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Medium" charset="1" panose="00000600000000000000"/>
      <p:regular r:id="rId25"/>
    </p:embeddedFont>
    <p:embeddedFont>
      <p:font typeface="HK Grotesk Light" charset="1" panose="00000400000000000000"/>
      <p:regular r:id="rId26"/>
    </p:embeddedFont>
    <p:embeddedFont>
      <p:font typeface="Poppins Light" charset="1" panose="00000400000000000000"/>
      <p:regular r:id="rId27"/>
    </p:embeddedFont>
    <p:embeddedFont>
      <p:font typeface="HK Grotesk" charset="1" panose="00000500000000000000"/>
      <p:regular r:id="rId28"/>
    </p:embeddedFont>
    <p:embeddedFont>
      <p:font typeface="HK Grotesk Medium" charset="1" panose="000006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7504795"/>
            <a:ext cx="5743699" cy="2782205"/>
            <a:chOff x="0" y="0"/>
            <a:chExt cx="1942930" cy="941141"/>
          </a:xfrm>
        </p:grpSpPr>
        <p:sp>
          <p:nvSpPr>
            <p:cNvPr name="Freeform 3" id="3"/>
            <p:cNvSpPr/>
            <p:nvPr/>
          </p:nvSpPr>
          <p:spPr>
            <a:xfrm flipH="false" flipV="false" rot="0">
              <a:off x="0" y="0"/>
              <a:ext cx="1942930" cy="941141"/>
            </a:xfrm>
            <a:custGeom>
              <a:avLst/>
              <a:gdLst/>
              <a:ahLst/>
              <a:cxnLst/>
              <a:rect r="r" b="b" t="t" l="l"/>
              <a:pathLst>
                <a:path h="941141" w="1942930">
                  <a:moveTo>
                    <a:pt x="0" y="0"/>
                  </a:moveTo>
                  <a:lnTo>
                    <a:pt x="1942930" y="0"/>
                  </a:lnTo>
                  <a:lnTo>
                    <a:pt x="1942930" y="941141"/>
                  </a:lnTo>
                  <a:lnTo>
                    <a:pt x="0" y="941141"/>
                  </a:lnTo>
                  <a:close/>
                </a:path>
              </a:pathLst>
            </a:custGeom>
            <a:solidFill>
              <a:srgbClr val="1D7144"/>
            </a:solidFill>
          </p:spPr>
        </p:sp>
      </p:grpSp>
      <p:grpSp>
        <p:nvGrpSpPr>
          <p:cNvPr name="Group 4" id="4"/>
          <p:cNvGrpSpPr/>
          <p:nvPr/>
        </p:nvGrpSpPr>
        <p:grpSpPr>
          <a:xfrm rot="0">
            <a:off x="5743699" y="7504795"/>
            <a:ext cx="6852302" cy="2782205"/>
            <a:chOff x="0" y="0"/>
            <a:chExt cx="2317939" cy="941141"/>
          </a:xfrm>
        </p:grpSpPr>
        <p:sp>
          <p:nvSpPr>
            <p:cNvPr name="Freeform 5" id="5"/>
            <p:cNvSpPr/>
            <p:nvPr/>
          </p:nvSpPr>
          <p:spPr>
            <a:xfrm flipH="false" flipV="false" rot="0">
              <a:off x="0" y="0"/>
              <a:ext cx="2317939" cy="941141"/>
            </a:xfrm>
            <a:custGeom>
              <a:avLst/>
              <a:gdLst/>
              <a:ahLst/>
              <a:cxnLst/>
              <a:rect r="r" b="b" t="t" l="l"/>
              <a:pathLst>
                <a:path h="941141" w="2317939">
                  <a:moveTo>
                    <a:pt x="0" y="0"/>
                  </a:moveTo>
                  <a:lnTo>
                    <a:pt x="2317939" y="0"/>
                  </a:lnTo>
                  <a:lnTo>
                    <a:pt x="2317939" y="941141"/>
                  </a:lnTo>
                  <a:lnTo>
                    <a:pt x="0" y="941141"/>
                  </a:lnTo>
                  <a:close/>
                </a:path>
              </a:pathLst>
            </a:custGeom>
            <a:solidFill>
              <a:srgbClr val="76DD94"/>
            </a:solidFill>
          </p:spPr>
        </p:sp>
      </p:grpSp>
      <p:grpSp>
        <p:nvGrpSpPr>
          <p:cNvPr name="Group 6" id="6"/>
          <p:cNvGrpSpPr/>
          <p:nvPr/>
        </p:nvGrpSpPr>
        <p:grpSpPr>
          <a:xfrm rot="0">
            <a:off x="12596002" y="7504795"/>
            <a:ext cx="5691998" cy="2782205"/>
            <a:chOff x="0" y="0"/>
            <a:chExt cx="1925441" cy="941141"/>
          </a:xfrm>
        </p:grpSpPr>
        <p:sp>
          <p:nvSpPr>
            <p:cNvPr name="Freeform 7" id="7"/>
            <p:cNvSpPr/>
            <p:nvPr/>
          </p:nvSpPr>
          <p:spPr>
            <a:xfrm flipH="false" flipV="false" rot="0">
              <a:off x="0" y="0"/>
              <a:ext cx="1925441" cy="941141"/>
            </a:xfrm>
            <a:custGeom>
              <a:avLst/>
              <a:gdLst/>
              <a:ahLst/>
              <a:cxnLst/>
              <a:rect r="r" b="b" t="t" l="l"/>
              <a:pathLst>
                <a:path h="941141" w="1925441">
                  <a:moveTo>
                    <a:pt x="0" y="0"/>
                  </a:moveTo>
                  <a:lnTo>
                    <a:pt x="1925441" y="0"/>
                  </a:lnTo>
                  <a:lnTo>
                    <a:pt x="1925441" y="941141"/>
                  </a:lnTo>
                  <a:lnTo>
                    <a:pt x="0" y="941141"/>
                  </a:lnTo>
                  <a:close/>
                </a:path>
              </a:pathLst>
            </a:custGeom>
            <a:solidFill>
              <a:srgbClr val="005CE6"/>
            </a:solidFill>
          </p:spPr>
        </p:sp>
      </p:grpSp>
      <p:sp>
        <p:nvSpPr>
          <p:cNvPr name="Freeform 8" id="8"/>
          <p:cNvSpPr/>
          <p:nvPr/>
        </p:nvSpPr>
        <p:spPr>
          <a:xfrm flipH="false" flipV="false" rot="-5400000">
            <a:off x="2858797" y="7384321"/>
            <a:ext cx="2880499" cy="2876026"/>
          </a:xfrm>
          <a:custGeom>
            <a:avLst/>
            <a:gdLst/>
            <a:ahLst/>
            <a:cxnLst/>
            <a:rect r="r" b="b" t="t" l="l"/>
            <a:pathLst>
              <a:path h="2876026" w="2880499">
                <a:moveTo>
                  <a:pt x="0" y="0"/>
                </a:moveTo>
                <a:lnTo>
                  <a:pt x="2880499" y="0"/>
                </a:lnTo>
                <a:lnTo>
                  <a:pt x="2880499" y="2876026"/>
                </a:lnTo>
                <a:lnTo>
                  <a:pt x="0" y="2876026"/>
                </a:lnTo>
                <a:lnTo>
                  <a:pt x="0" y="0"/>
                </a:lnTo>
                <a:close/>
              </a:path>
            </a:pathLst>
          </a:custGeom>
          <a:blipFill>
            <a:blip r:embed="rId2"/>
            <a:stretch>
              <a:fillRect l="0" t="0" r="0" b="0"/>
            </a:stretch>
          </a:blipFill>
        </p:spPr>
      </p:sp>
      <p:grpSp>
        <p:nvGrpSpPr>
          <p:cNvPr name="Group 9" id="9"/>
          <p:cNvGrpSpPr/>
          <p:nvPr/>
        </p:nvGrpSpPr>
        <p:grpSpPr>
          <a:xfrm rot="0">
            <a:off x="5753224" y="813810"/>
            <a:ext cx="9511178" cy="214890"/>
            <a:chOff x="0" y="0"/>
            <a:chExt cx="25294954" cy="571500"/>
          </a:xfrm>
        </p:grpSpPr>
        <p:sp>
          <p:nvSpPr>
            <p:cNvPr name="Freeform 10" id="10"/>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11" id="11"/>
          <p:cNvGrpSpPr/>
          <p:nvPr/>
        </p:nvGrpSpPr>
        <p:grpSpPr>
          <a:xfrm rot="0">
            <a:off x="1956377" y="2499564"/>
            <a:ext cx="11838097" cy="3537743"/>
            <a:chOff x="0" y="0"/>
            <a:chExt cx="15784129" cy="4716991"/>
          </a:xfrm>
        </p:grpSpPr>
        <p:sp>
          <p:nvSpPr>
            <p:cNvPr name="TextBox 12" id="12"/>
            <p:cNvSpPr txBox="true"/>
            <p:nvPr/>
          </p:nvSpPr>
          <p:spPr>
            <a:xfrm rot="0">
              <a:off x="0" y="-57150"/>
              <a:ext cx="15784129" cy="2608719"/>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Ley de Faraday y Motores de Inducción</a:t>
              </a:r>
            </a:p>
          </p:txBody>
        </p:sp>
        <p:sp>
          <p:nvSpPr>
            <p:cNvPr name="TextBox 13" id="13"/>
            <p:cNvSpPr txBox="true"/>
            <p:nvPr/>
          </p:nvSpPr>
          <p:spPr>
            <a:xfrm rot="0">
              <a:off x="0" y="3052924"/>
              <a:ext cx="8491256" cy="1664067"/>
            </a:xfrm>
            <a:prstGeom prst="rect">
              <a:avLst/>
            </a:prstGeom>
          </p:spPr>
          <p:txBody>
            <a:bodyPr anchor="t" rtlCol="false" tIns="0" lIns="0" bIns="0" rIns="0">
              <a:spAutoFit/>
            </a:bodyPr>
            <a:lstStyle/>
            <a:p>
              <a:pPr algn="l" marL="0" indent="0" lvl="0">
                <a:lnSpc>
                  <a:spcPts val="3360"/>
                </a:lnSpc>
              </a:pPr>
              <a:r>
                <a:rPr lang="en-US" sz="2800" spc="28">
                  <a:solidFill>
                    <a:srgbClr val="000000"/>
                  </a:solidFill>
                  <a:latin typeface="HK Grotesk Light"/>
                  <a:ea typeface="HK Grotesk Light"/>
                  <a:cs typeface="HK Grotesk Light"/>
                  <a:sym typeface="HK Grotesk Light"/>
                </a:rPr>
                <a:t>Principios fundamentales, aplicaciones en electrónica y mecánica, y construcción de un motor casero</a:t>
              </a:r>
            </a:p>
          </p:txBody>
        </p:sp>
      </p:grpSp>
      <p:sp>
        <p:nvSpPr>
          <p:cNvPr name="TextBox 14" id="14"/>
          <p:cNvSpPr txBox="true"/>
          <p:nvPr/>
        </p:nvSpPr>
        <p:spPr>
          <a:xfrm rot="0">
            <a:off x="15374896" y="794760"/>
            <a:ext cx="1884404"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PÁGINA 1 DE 20</a:t>
            </a:r>
          </a:p>
        </p:txBody>
      </p:sp>
      <p:sp>
        <p:nvSpPr>
          <p:cNvPr name="TextBox 15" id="15"/>
          <p:cNvSpPr txBox="true"/>
          <p:nvPr/>
        </p:nvSpPr>
        <p:spPr>
          <a:xfrm rot="0">
            <a:off x="1028700" y="794760"/>
            <a:ext cx="4573212" cy="435067"/>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FUENTE: SERWAY, R. (2018). FÍSICA PARA CIENCIAS E INGENIERÍA</a:t>
            </a:r>
          </a:p>
        </p:txBody>
      </p:sp>
      <p:sp>
        <p:nvSpPr>
          <p:cNvPr name="TextBox 16" id="16"/>
          <p:cNvSpPr txBox="true"/>
          <p:nvPr/>
        </p:nvSpPr>
        <p:spPr>
          <a:xfrm rot="0">
            <a:off x="6093268" y="6243349"/>
            <a:ext cx="6153164" cy="1138736"/>
          </a:xfrm>
          <a:prstGeom prst="rect">
            <a:avLst/>
          </a:prstGeom>
        </p:spPr>
        <p:txBody>
          <a:bodyPr anchor="t" rtlCol="false" tIns="0" lIns="0" bIns="0" rIns="0">
            <a:spAutoFit/>
          </a:bodyPr>
          <a:lstStyle/>
          <a:p>
            <a:pPr algn="ctr">
              <a:lnSpc>
                <a:spcPts val="2925"/>
              </a:lnSpc>
            </a:pPr>
            <a:r>
              <a:rPr lang="en-US" sz="2437" b="true">
                <a:solidFill>
                  <a:srgbClr val="000000"/>
                </a:solidFill>
                <a:latin typeface="Poppins Medium"/>
                <a:ea typeface="Poppins Medium"/>
                <a:cs typeface="Poppins Medium"/>
                <a:sym typeface="Poppins Medium"/>
              </a:rPr>
              <a:t>Docente: Ing. Alfredo Uriel López Benítez</a:t>
            </a:r>
          </a:p>
          <a:p>
            <a:pPr algn="ctr">
              <a:lnSpc>
                <a:spcPts val="2925"/>
              </a:lnSpc>
            </a:pPr>
            <a:r>
              <a:rPr lang="en-US" sz="2437" b="true">
                <a:solidFill>
                  <a:srgbClr val="000000"/>
                </a:solidFill>
                <a:latin typeface="Poppins Medium"/>
                <a:ea typeface="Poppins Medium"/>
                <a:cs typeface="Poppins Medium"/>
                <a:sym typeface="Poppins Medium"/>
              </a:rPr>
              <a:t>Módulo: Manejo de Circuitos Eléctricos</a:t>
            </a:r>
          </a:p>
          <a:p>
            <a:pPr algn="ctr">
              <a:lnSpc>
                <a:spcPts val="2925"/>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783908" y="2901855"/>
            <a:ext cx="5657850" cy="5657850"/>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966"/>
            </a:solidFill>
          </p:spPr>
        </p:sp>
      </p:grpSp>
      <p:sp>
        <p:nvSpPr>
          <p:cNvPr name="Freeform 4" id="4"/>
          <p:cNvSpPr/>
          <p:nvPr/>
        </p:nvSpPr>
        <p:spPr>
          <a:xfrm flipH="false" flipV="false" rot="0">
            <a:off x="850450" y="-373224"/>
            <a:ext cx="7420027" cy="3736233"/>
          </a:xfrm>
          <a:custGeom>
            <a:avLst/>
            <a:gdLst/>
            <a:ahLst/>
            <a:cxnLst/>
            <a:rect r="r" b="b" t="t" l="l"/>
            <a:pathLst>
              <a:path h="3736233" w="7420027">
                <a:moveTo>
                  <a:pt x="0" y="0"/>
                </a:moveTo>
                <a:lnTo>
                  <a:pt x="7420027" y="0"/>
                </a:lnTo>
                <a:lnTo>
                  <a:pt x="7420027" y="3736233"/>
                </a:lnTo>
                <a:lnTo>
                  <a:pt x="0" y="3736233"/>
                </a:lnTo>
                <a:lnTo>
                  <a:pt x="0" y="0"/>
                </a:lnTo>
                <a:close/>
              </a:path>
            </a:pathLst>
          </a:custGeom>
          <a:blipFill>
            <a:blip r:embed="rId2"/>
            <a:stretch>
              <a:fillRect l="0" t="0" r="0" b="0"/>
            </a:stretch>
          </a:blipFill>
        </p:spPr>
      </p:sp>
      <p:grpSp>
        <p:nvGrpSpPr>
          <p:cNvPr name="Group 5" id="5"/>
          <p:cNvGrpSpPr/>
          <p:nvPr/>
        </p:nvGrpSpPr>
        <p:grpSpPr>
          <a:xfrm rot="0">
            <a:off x="5753224" y="9258300"/>
            <a:ext cx="9511178" cy="214890"/>
            <a:chOff x="0" y="0"/>
            <a:chExt cx="25294954" cy="571500"/>
          </a:xfrm>
        </p:grpSpPr>
        <p:sp>
          <p:nvSpPr>
            <p:cNvPr name="Freeform 6" id="6"/>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7" id="7"/>
          <p:cNvGrpSpPr/>
          <p:nvPr/>
        </p:nvGrpSpPr>
        <p:grpSpPr>
          <a:xfrm rot="2700000">
            <a:off x="2961716" y="4079664"/>
            <a:ext cx="3302233" cy="3302233"/>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05CE6"/>
            </a:solidFill>
          </p:spPr>
        </p:sp>
      </p:grpSp>
      <p:grpSp>
        <p:nvGrpSpPr>
          <p:cNvPr name="Group 9" id="9"/>
          <p:cNvGrpSpPr/>
          <p:nvPr/>
        </p:nvGrpSpPr>
        <p:grpSpPr>
          <a:xfrm rot="0">
            <a:off x="8972297" y="2506210"/>
            <a:ext cx="7745801" cy="4800772"/>
            <a:chOff x="0" y="0"/>
            <a:chExt cx="10327734" cy="6401029"/>
          </a:xfrm>
        </p:grpSpPr>
        <p:sp>
          <p:nvSpPr>
            <p:cNvPr name="TextBox 10" id="10"/>
            <p:cNvSpPr txBox="true"/>
            <p:nvPr/>
          </p:nvSpPr>
          <p:spPr>
            <a:xfrm rot="0">
              <a:off x="0" y="1953994"/>
              <a:ext cx="10327734" cy="4447036"/>
            </a:xfrm>
            <a:prstGeom prst="rect">
              <a:avLst/>
            </a:prstGeom>
          </p:spPr>
          <p:txBody>
            <a:bodyPr anchor="t" rtlCol="false" tIns="0" lIns="0" bIns="0" rIns="0">
              <a:spAutoFit/>
            </a:bodyPr>
            <a:lstStyle/>
            <a:p>
              <a:pPr algn="l" marL="0" indent="0" lvl="0">
                <a:lnSpc>
                  <a:spcPts val="2712"/>
                </a:lnSpc>
              </a:pPr>
              <a:r>
                <a:rPr lang="en-US" sz="2260" spc="22">
                  <a:solidFill>
                    <a:srgbClr val="000000"/>
                  </a:solidFill>
                  <a:latin typeface="HK Grotesk Light"/>
                  <a:ea typeface="HK Grotesk Light"/>
                  <a:cs typeface="HK Grotesk Light"/>
                  <a:sym typeface="HK Grotesk Light"/>
                </a:rPr>
                <a:t>Presentaciones son herramientas de comunicación que pueden usarse como demostraciones, conferencias, discursos, informes y más. Se presentan principalmente ante una audiencia.</a:t>
              </a:r>
            </a:p>
            <a:p>
              <a:pPr algn="l" marL="0" indent="0" lvl="0">
                <a:lnSpc>
                  <a:spcPts val="2712"/>
                </a:lnSpc>
              </a:pPr>
              <a:r>
                <a:rPr lang="en-US" sz="2260" spc="22">
                  <a:solidFill>
                    <a:srgbClr val="000000"/>
                  </a:solidFill>
                  <a:latin typeface="HK Grotesk Light"/>
                  <a:ea typeface="HK Grotesk Light"/>
                  <a:cs typeface="HK Grotesk Light"/>
                  <a:sym typeface="HK Grotesk Light"/>
                </a:rPr>
                <a:t>Para crear una presentación impactante, es mejor simplificar tus pensamientos. Comienza con un esquema de temas e identifica los puntos destacados, que pueden aplicarse a cualquier tema que planees discutir. Luego puedes organizarlos en tu introducción, contenido principal y conclusión.</a:t>
              </a:r>
            </a:p>
          </p:txBody>
        </p:sp>
        <p:sp>
          <p:nvSpPr>
            <p:cNvPr name="TextBox 11" id="11"/>
            <p:cNvSpPr txBox="true"/>
            <p:nvPr/>
          </p:nvSpPr>
          <p:spPr>
            <a:xfrm rot="0">
              <a:off x="0" y="-57150"/>
              <a:ext cx="10327734" cy="1332934"/>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Contenido</a:t>
              </a:r>
            </a:p>
          </p:txBody>
        </p:sp>
      </p:grpSp>
      <p:sp>
        <p:nvSpPr>
          <p:cNvPr name="TextBox 12" id="12"/>
          <p:cNvSpPr txBox="true"/>
          <p:nvPr/>
        </p:nvSpPr>
        <p:spPr>
          <a:xfrm rot="0">
            <a:off x="15374896" y="9269576"/>
            <a:ext cx="1884404" cy="196732"/>
          </a:xfrm>
          <a:prstGeom prst="rect">
            <a:avLst/>
          </a:prstGeom>
        </p:spPr>
        <p:txBody>
          <a:bodyPr anchor="t" rtlCol="false" tIns="0" lIns="0" bIns="0" rIns="0">
            <a:spAutoFit/>
          </a:bodyPr>
          <a:lstStyle/>
          <a:p>
            <a:pPr algn="r" marL="0" indent="0" lvl="0">
              <a:lnSpc>
                <a:spcPts val="1582"/>
              </a:lnSpc>
            </a:pPr>
            <a:r>
              <a:rPr lang="en-US" b="true" sz="1318" spc="92">
                <a:solidFill>
                  <a:srgbClr val="000000"/>
                </a:solidFill>
                <a:latin typeface="Poppins Medium"/>
                <a:ea typeface="Poppins Medium"/>
                <a:cs typeface="Poppins Medium"/>
                <a:sym typeface="Poppins Medium"/>
              </a:rPr>
              <a:t>2/20</a:t>
            </a:r>
          </a:p>
        </p:txBody>
      </p:sp>
      <p:sp>
        <p:nvSpPr>
          <p:cNvPr name="TextBox 13" id="13"/>
          <p:cNvSpPr txBox="true"/>
          <p:nvPr/>
        </p:nvSpPr>
        <p:spPr>
          <a:xfrm rot="0">
            <a:off x="1028700" y="9082368"/>
            <a:ext cx="4724524" cy="383940"/>
          </a:xfrm>
          <a:prstGeom prst="rect">
            <a:avLst/>
          </a:prstGeom>
        </p:spPr>
        <p:txBody>
          <a:bodyPr anchor="t" rtlCol="false" tIns="0" lIns="0" bIns="0" rIns="0">
            <a:spAutoFit/>
          </a:bodyPr>
          <a:lstStyle/>
          <a:p>
            <a:pPr algn="l" marL="0" indent="0" lvl="0">
              <a:lnSpc>
                <a:spcPts val="1582"/>
              </a:lnSpc>
            </a:pPr>
            <a:r>
              <a:rPr lang="en-US" b="true" sz="1318" spc="92">
                <a:solidFill>
                  <a:srgbClr val="000000"/>
                </a:solidFill>
                <a:latin typeface="Poppins Medium"/>
                <a:ea typeface="Poppins Medium"/>
                <a:cs typeface="Poppins Medium"/>
                <a:sym typeface="Poppins Medium"/>
              </a:rPr>
              <a:t>FUENTE: SERWAY, R. FÍSICA PARA CIENCIAS E INGENIERÍA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0143638" y="0"/>
            <a:ext cx="8144362" cy="10287000"/>
            <a:chOff x="0" y="0"/>
            <a:chExt cx="2755006" cy="3479800"/>
          </a:xfrm>
        </p:grpSpPr>
        <p:sp>
          <p:nvSpPr>
            <p:cNvPr name="Freeform 3" id="3"/>
            <p:cNvSpPr/>
            <p:nvPr/>
          </p:nvSpPr>
          <p:spPr>
            <a:xfrm flipH="false" flipV="false" rot="0">
              <a:off x="0" y="0"/>
              <a:ext cx="2755006" cy="3479800"/>
            </a:xfrm>
            <a:custGeom>
              <a:avLst/>
              <a:gdLst/>
              <a:ahLst/>
              <a:cxnLst/>
              <a:rect r="r" b="b" t="t" l="l"/>
              <a:pathLst>
                <a:path h="3479800" w="2755006">
                  <a:moveTo>
                    <a:pt x="0" y="0"/>
                  </a:moveTo>
                  <a:lnTo>
                    <a:pt x="2755006" y="0"/>
                  </a:lnTo>
                  <a:lnTo>
                    <a:pt x="2755006" y="3479800"/>
                  </a:lnTo>
                  <a:lnTo>
                    <a:pt x="0" y="3479800"/>
                  </a:lnTo>
                  <a:close/>
                </a:path>
              </a:pathLst>
            </a:custGeom>
            <a:solidFill>
              <a:srgbClr val="1D7144"/>
            </a:solidFill>
          </p:spPr>
        </p:sp>
      </p:grpSp>
      <p:grpSp>
        <p:nvGrpSpPr>
          <p:cNvPr name="Group 4" id="4"/>
          <p:cNvGrpSpPr/>
          <p:nvPr/>
        </p:nvGrpSpPr>
        <p:grpSpPr>
          <a:xfrm rot="0">
            <a:off x="10143638" y="0"/>
            <a:ext cx="8144362" cy="4071571"/>
            <a:chOff x="0" y="0"/>
            <a:chExt cx="2755006" cy="1377297"/>
          </a:xfrm>
        </p:grpSpPr>
        <p:sp>
          <p:nvSpPr>
            <p:cNvPr name="Freeform 5" id="5"/>
            <p:cNvSpPr/>
            <p:nvPr/>
          </p:nvSpPr>
          <p:spPr>
            <a:xfrm flipH="false" flipV="false" rot="0">
              <a:off x="0" y="0"/>
              <a:ext cx="2755006" cy="1377297"/>
            </a:xfrm>
            <a:custGeom>
              <a:avLst/>
              <a:gdLst/>
              <a:ahLst/>
              <a:cxnLst/>
              <a:rect r="r" b="b" t="t" l="l"/>
              <a:pathLst>
                <a:path h="1377297" w="2755006">
                  <a:moveTo>
                    <a:pt x="0" y="0"/>
                  </a:moveTo>
                  <a:lnTo>
                    <a:pt x="2755006" y="0"/>
                  </a:lnTo>
                  <a:lnTo>
                    <a:pt x="2755006" y="1377297"/>
                  </a:lnTo>
                  <a:lnTo>
                    <a:pt x="0" y="1377297"/>
                  </a:lnTo>
                  <a:close/>
                </a:path>
              </a:pathLst>
            </a:custGeom>
            <a:solidFill>
              <a:srgbClr val="005CE6"/>
            </a:solidFill>
          </p:spPr>
        </p:sp>
      </p:grpSp>
      <p:grpSp>
        <p:nvGrpSpPr>
          <p:cNvPr name="Group 6" id="6"/>
          <p:cNvGrpSpPr/>
          <p:nvPr/>
        </p:nvGrpSpPr>
        <p:grpSpPr>
          <a:xfrm rot="0">
            <a:off x="1976010" y="4124259"/>
            <a:ext cx="7038863" cy="2163287"/>
            <a:chOff x="0" y="0"/>
            <a:chExt cx="9385151" cy="2884382"/>
          </a:xfrm>
        </p:grpSpPr>
        <p:sp>
          <p:nvSpPr>
            <p:cNvPr name="TextBox 7" id="7"/>
            <p:cNvSpPr txBox="true"/>
            <p:nvPr/>
          </p:nvSpPr>
          <p:spPr>
            <a:xfrm rot="0">
              <a:off x="0" y="-57150"/>
              <a:ext cx="9385151" cy="1332934"/>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Ley de Faraday</a:t>
              </a:r>
            </a:p>
          </p:txBody>
        </p:sp>
        <p:sp>
          <p:nvSpPr>
            <p:cNvPr name="TextBox 8" id="8"/>
            <p:cNvSpPr txBox="true"/>
            <p:nvPr/>
          </p:nvSpPr>
          <p:spPr>
            <a:xfrm rot="0">
              <a:off x="0" y="1404091"/>
              <a:ext cx="7570850" cy="1480291"/>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FUNDAMENTOS DEL ELECTROMAGNETISMO</a:t>
              </a:r>
            </a:p>
          </p:txBody>
        </p:sp>
      </p:grpSp>
      <p:grpSp>
        <p:nvGrpSpPr>
          <p:cNvPr name="Group 9" id="9"/>
          <p:cNvGrpSpPr/>
          <p:nvPr/>
        </p:nvGrpSpPr>
        <p:grpSpPr>
          <a:xfrm rot="0">
            <a:off x="12264572" y="2114640"/>
            <a:ext cx="3902495" cy="390249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966"/>
            </a:solidFill>
          </p:spPr>
        </p:sp>
      </p:grpSp>
      <p:sp>
        <p:nvSpPr>
          <p:cNvPr name="TextBox 11" id="11"/>
          <p:cNvSpPr txBox="true"/>
          <p:nvPr/>
        </p:nvSpPr>
        <p:spPr>
          <a:xfrm rot="0">
            <a:off x="1028700" y="9031242"/>
            <a:ext cx="4724524" cy="435067"/>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FUENTE: SERWAY, R. (2018). FÍSICA PARA CIENCIAS E INGENIERÍA. CENGAGE LEARNING.</a:t>
            </a:r>
          </a:p>
        </p:txBody>
      </p:sp>
      <p:grpSp>
        <p:nvGrpSpPr>
          <p:cNvPr name="Group 12" id="12"/>
          <p:cNvGrpSpPr/>
          <p:nvPr/>
        </p:nvGrpSpPr>
        <p:grpSpPr>
          <a:xfrm rot="0">
            <a:off x="5753224" y="9258300"/>
            <a:ext cx="3390776" cy="214890"/>
            <a:chOff x="0" y="0"/>
            <a:chExt cx="9017760" cy="571500"/>
          </a:xfrm>
        </p:grpSpPr>
        <p:sp>
          <p:nvSpPr>
            <p:cNvPr name="Freeform 13" id="13"/>
            <p:cNvSpPr/>
            <p:nvPr/>
          </p:nvSpPr>
          <p:spPr>
            <a:xfrm flipH="false" flipV="false" rot="0">
              <a:off x="0" y="255270"/>
              <a:ext cx="9017760" cy="69850"/>
            </a:xfrm>
            <a:custGeom>
              <a:avLst/>
              <a:gdLst/>
              <a:ahLst/>
              <a:cxnLst/>
              <a:rect r="r" b="b" t="t" l="l"/>
              <a:pathLst>
                <a:path h="69850" w="9017760">
                  <a:moveTo>
                    <a:pt x="8726929" y="0"/>
                  </a:moveTo>
                  <a:lnTo>
                    <a:pt x="0" y="0"/>
                  </a:lnTo>
                  <a:lnTo>
                    <a:pt x="0" y="69850"/>
                  </a:lnTo>
                  <a:lnTo>
                    <a:pt x="9017760" y="69850"/>
                  </a:lnTo>
                  <a:lnTo>
                    <a:pt x="9017760" y="0"/>
                  </a:lnTo>
                  <a:close/>
                </a:path>
              </a:pathLst>
            </a:custGeom>
            <a:solidFill>
              <a:srgbClr val="000000"/>
            </a:solidFill>
          </p:spPr>
        </p:sp>
      </p:grpSp>
      <p:sp>
        <p:nvSpPr>
          <p:cNvPr name="TextBox 14" id="14"/>
          <p:cNvSpPr txBox="true"/>
          <p:nvPr/>
        </p:nvSpPr>
        <p:spPr>
          <a:xfrm rot="0">
            <a:off x="1028700" y="801642"/>
            <a:ext cx="3849408" cy="227058"/>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SECCIÓN 1</a:t>
            </a:r>
          </a:p>
        </p:txBody>
      </p:sp>
      <p:sp>
        <p:nvSpPr>
          <p:cNvPr name="Freeform 15" id="15"/>
          <p:cNvSpPr/>
          <p:nvPr/>
        </p:nvSpPr>
        <p:spPr>
          <a:xfrm flipH="false" flipV="false" rot="0">
            <a:off x="12061178" y="5968900"/>
            <a:ext cx="4330938" cy="2471724"/>
          </a:xfrm>
          <a:custGeom>
            <a:avLst/>
            <a:gdLst/>
            <a:ahLst/>
            <a:cxnLst/>
            <a:rect r="r" b="b" t="t" l="l"/>
            <a:pathLst>
              <a:path h="2471724" w="4330938">
                <a:moveTo>
                  <a:pt x="0" y="0"/>
                </a:moveTo>
                <a:lnTo>
                  <a:pt x="4330937" y="0"/>
                </a:lnTo>
                <a:lnTo>
                  <a:pt x="4330937" y="2471724"/>
                </a:lnTo>
                <a:lnTo>
                  <a:pt x="0" y="2471724"/>
                </a:lnTo>
                <a:lnTo>
                  <a:pt x="0" y="0"/>
                </a:lnTo>
                <a:close/>
              </a:path>
            </a:pathLst>
          </a:custGeom>
          <a:blipFill>
            <a:blip r:embed="rId2"/>
            <a:stretch>
              <a:fillRect l="0" t="0" r="0" b="0"/>
            </a:stretch>
          </a:blipFill>
        </p:spPr>
      </p:sp>
      <p:sp>
        <p:nvSpPr>
          <p:cNvPr name="Freeform 16" id="16"/>
          <p:cNvSpPr/>
          <p:nvPr/>
        </p:nvSpPr>
        <p:spPr>
          <a:xfrm flipH="false" flipV="false" rot="0">
            <a:off x="11641192" y="5760849"/>
            <a:ext cx="5168740" cy="2554835"/>
          </a:xfrm>
          <a:custGeom>
            <a:avLst/>
            <a:gdLst/>
            <a:ahLst/>
            <a:cxnLst/>
            <a:rect r="r" b="b" t="t" l="l"/>
            <a:pathLst>
              <a:path h="2554835" w="5168740">
                <a:moveTo>
                  <a:pt x="0" y="0"/>
                </a:moveTo>
                <a:lnTo>
                  <a:pt x="5168741" y="0"/>
                </a:lnTo>
                <a:lnTo>
                  <a:pt x="5168741" y="2554834"/>
                </a:lnTo>
                <a:lnTo>
                  <a:pt x="0" y="2554834"/>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976010" y="4406998"/>
            <a:ext cx="6218200" cy="3159843"/>
          </a:xfrm>
          <a:prstGeom prst="rect">
            <a:avLst/>
          </a:prstGeom>
        </p:spPr>
        <p:txBody>
          <a:bodyPr anchor="t" rtlCol="false" tIns="0" lIns="0" bIns="0" rIns="0">
            <a:spAutoFit/>
          </a:bodyPr>
          <a:lstStyle/>
          <a:p>
            <a:pPr algn="l" marL="0" indent="0" lvl="0">
              <a:lnSpc>
                <a:spcPts val="3117"/>
              </a:lnSpc>
            </a:pPr>
            <a:r>
              <a:rPr lang="en-US" sz="2398" spc="23">
                <a:solidFill>
                  <a:srgbClr val="000000"/>
                </a:solidFill>
                <a:latin typeface="HK Grotesk Light"/>
                <a:ea typeface="HK Grotesk Light"/>
                <a:cs typeface="HK Grotesk Light"/>
                <a:sym typeface="HK Grotesk Light"/>
              </a:rPr>
              <a:t>La Ley de Faraday establece que un campo magnético variable en el tiempo induce una fuerza electromotriz (FEM) en un circuito cerrado. Matemáticamente se expresa como: ε = -dΦ/dt, donde ε es la FEM inducida y Φ es el flujo magnético. El signo negativo indica la Ley de Lenz, que establece que la corriente inducida se opone al cambio que la produce.</a:t>
            </a:r>
          </a:p>
        </p:txBody>
      </p:sp>
      <p:sp>
        <p:nvSpPr>
          <p:cNvPr name="TextBox 3" id="3"/>
          <p:cNvSpPr txBox="true"/>
          <p:nvPr/>
        </p:nvSpPr>
        <p:spPr>
          <a:xfrm rot="0">
            <a:off x="9429810" y="4406998"/>
            <a:ext cx="6218200" cy="3159843"/>
          </a:xfrm>
          <a:prstGeom prst="rect">
            <a:avLst/>
          </a:prstGeom>
        </p:spPr>
        <p:txBody>
          <a:bodyPr anchor="t" rtlCol="false" tIns="0" lIns="0" bIns="0" rIns="0">
            <a:spAutoFit/>
          </a:bodyPr>
          <a:lstStyle/>
          <a:p>
            <a:pPr algn="l" marL="0" indent="0" lvl="0">
              <a:lnSpc>
                <a:spcPts val="3117"/>
              </a:lnSpc>
            </a:pPr>
            <a:r>
              <a:rPr lang="en-US" sz="2398" spc="23">
                <a:solidFill>
                  <a:srgbClr val="000000"/>
                </a:solidFill>
                <a:latin typeface="HK Grotesk Light"/>
                <a:ea typeface="HK Grotesk Light"/>
                <a:cs typeface="HK Grotesk Light"/>
                <a:sym typeface="HK Grotesk Light"/>
              </a:rPr>
              <a:t>El flujo magnético (Φ) se define como el producto del campo magnético (B) por el área (A) perpendicular a las líneas de campo: Φ = B·A·cos(θ). Cuando este flujo cambia, ya sea por variación del campo, del área o del ángulo, se genera una corriente eléctrica. Este principio es fundamental para generadores, transformadores y motores eléctricos.</a:t>
            </a:r>
          </a:p>
        </p:txBody>
      </p:sp>
      <p:grpSp>
        <p:nvGrpSpPr>
          <p:cNvPr name="Group 4" id="4"/>
          <p:cNvGrpSpPr/>
          <p:nvPr/>
        </p:nvGrpSpPr>
        <p:grpSpPr>
          <a:xfrm rot="0">
            <a:off x="1976010" y="2093028"/>
            <a:ext cx="9575277" cy="1345337"/>
            <a:chOff x="0" y="0"/>
            <a:chExt cx="12767036" cy="1793783"/>
          </a:xfrm>
        </p:grpSpPr>
        <p:sp>
          <p:nvSpPr>
            <p:cNvPr name="TextBox 5" id="5"/>
            <p:cNvSpPr txBox="true"/>
            <p:nvPr/>
          </p:nvSpPr>
          <p:spPr>
            <a:xfrm rot="0">
              <a:off x="0" y="-47625"/>
              <a:ext cx="12767036" cy="1157003"/>
            </a:xfrm>
            <a:prstGeom prst="rect">
              <a:avLst/>
            </a:prstGeom>
          </p:spPr>
          <p:txBody>
            <a:bodyPr anchor="t" rtlCol="false" tIns="0" lIns="0" bIns="0" rIns="0">
              <a:spAutoFit/>
            </a:bodyPr>
            <a:lstStyle/>
            <a:p>
              <a:pPr algn="l" marL="0" indent="0" lvl="0">
                <a:lnSpc>
                  <a:spcPts val="6589"/>
                </a:lnSpc>
              </a:pPr>
              <a:r>
                <a:rPr lang="en-US" b="true" sz="5491">
                  <a:solidFill>
                    <a:srgbClr val="000000"/>
                  </a:solidFill>
                  <a:latin typeface="Poppins Medium"/>
                  <a:ea typeface="Poppins Medium"/>
                  <a:cs typeface="Poppins Medium"/>
                  <a:sym typeface="Poppins Medium"/>
                </a:rPr>
                <a:t>¿Qué es la Ley de Faraday?</a:t>
              </a:r>
            </a:p>
          </p:txBody>
        </p:sp>
        <p:sp>
          <p:nvSpPr>
            <p:cNvPr name="TextBox 6" id="6"/>
            <p:cNvSpPr txBox="true"/>
            <p:nvPr/>
          </p:nvSpPr>
          <p:spPr>
            <a:xfrm rot="0">
              <a:off x="0" y="1358717"/>
              <a:ext cx="11214808"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INDUCCIÓN ELECTROMAGNÉTICA Y FLUJO MAGNÉTICO</a:t>
              </a:r>
            </a:p>
          </p:txBody>
        </p:sp>
      </p:grpSp>
      <p:sp>
        <p:nvSpPr>
          <p:cNvPr name="Freeform 7" id="7"/>
          <p:cNvSpPr/>
          <p:nvPr/>
        </p:nvSpPr>
        <p:spPr>
          <a:xfrm flipH="false" flipV="false" rot="-10800000">
            <a:off x="1976010" y="7893181"/>
            <a:ext cx="4787638" cy="2393819"/>
          </a:xfrm>
          <a:custGeom>
            <a:avLst/>
            <a:gdLst/>
            <a:ahLst/>
            <a:cxnLst/>
            <a:rect r="r" b="b" t="t" l="l"/>
            <a:pathLst>
              <a:path h="2393819" w="4787638">
                <a:moveTo>
                  <a:pt x="0" y="0"/>
                </a:moveTo>
                <a:lnTo>
                  <a:pt x="4787638" y="0"/>
                </a:lnTo>
                <a:lnTo>
                  <a:pt x="4787638" y="2393819"/>
                </a:lnTo>
                <a:lnTo>
                  <a:pt x="0" y="23938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6763648" y="7893181"/>
            <a:ext cx="4787638" cy="2393819"/>
          </a:xfrm>
          <a:custGeom>
            <a:avLst/>
            <a:gdLst/>
            <a:ahLst/>
            <a:cxnLst/>
            <a:rect r="r" b="b" t="t" l="l"/>
            <a:pathLst>
              <a:path h="2393819" w="4787638">
                <a:moveTo>
                  <a:pt x="0" y="0"/>
                </a:moveTo>
                <a:lnTo>
                  <a:pt x="4787638" y="0"/>
                </a:lnTo>
                <a:lnTo>
                  <a:pt x="4787638" y="2393819"/>
                </a:lnTo>
                <a:lnTo>
                  <a:pt x="0" y="2393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0800000">
            <a:off x="11551286" y="7893181"/>
            <a:ext cx="4787638" cy="2393819"/>
          </a:xfrm>
          <a:custGeom>
            <a:avLst/>
            <a:gdLst/>
            <a:ahLst/>
            <a:cxnLst/>
            <a:rect r="r" b="b" t="t" l="l"/>
            <a:pathLst>
              <a:path h="2393819" w="4787638">
                <a:moveTo>
                  <a:pt x="0" y="0"/>
                </a:moveTo>
                <a:lnTo>
                  <a:pt x="4787639" y="0"/>
                </a:lnTo>
                <a:lnTo>
                  <a:pt x="4787639" y="2393819"/>
                </a:lnTo>
                <a:lnTo>
                  <a:pt x="0" y="23938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5753224" y="813810"/>
            <a:ext cx="9511178" cy="214890"/>
            <a:chOff x="0" y="0"/>
            <a:chExt cx="25294954" cy="571500"/>
          </a:xfrm>
        </p:grpSpPr>
        <p:sp>
          <p:nvSpPr>
            <p:cNvPr name="Freeform 11" id="11"/>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12" id="12"/>
          <p:cNvSpPr txBox="true"/>
          <p:nvPr/>
        </p:nvSpPr>
        <p:spPr>
          <a:xfrm rot="0">
            <a:off x="15374896" y="794760"/>
            <a:ext cx="1884404" cy="227058"/>
          </a:xfrm>
          <a:prstGeom prst="rect">
            <a:avLst/>
          </a:prstGeom>
        </p:spPr>
        <p:txBody>
          <a:bodyPr anchor="t" rtlCol="false" tIns="0" lIns="0" bIns="0" rIns="0">
            <a:spAutoFit/>
          </a:bodyPr>
          <a:lstStyle/>
          <a:p>
            <a:pPr algn="r" marL="0" indent="0" lvl="0">
              <a:lnSpc>
                <a:spcPts val="1678"/>
              </a:lnSpc>
            </a:pPr>
            <a:r>
              <a:rPr lang="en-US" b="true" sz="1399" spc="97">
                <a:solidFill>
                  <a:srgbClr val="000000"/>
                </a:solidFill>
                <a:latin typeface="Poppins Medium"/>
                <a:ea typeface="Poppins Medium"/>
                <a:cs typeface="Poppins Medium"/>
                <a:sym typeface="Poppins Medium"/>
              </a:rPr>
              <a:t>PÁGINA 4 DE 20</a:t>
            </a:r>
          </a:p>
        </p:txBody>
      </p:sp>
      <p:sp>
        <p:nvSpPr>
          <p:cNvPr name="TextBox 13" id="13"/>
          <p:cNvSpPr txBox="true"/>
          <p:nvPr/>
        </p:nvSpPr>
        <p:spPr>
          <a:xfrm rot="0">
            <a:off x="1028700" y="794760"/>
            <a:ext cx="4724524" cy="435067"/>
          </a:xfrm>
          <a:prstGeom prst="rect">
            <a:avLst/>
          </a:prstGeom>
        </p:spPr>
        <p:txBody>
          <a:bodyPr anchor="t" rtlCol="false" tIns="0" lIns="0" bIns="0" rIns="0">
            <a:spAutoFit/>
          </a:bodyPr>
          <a:lstStyle/>
          <a:p>
            <a:pPr algn="l" marL="0" indent="0" lvl="0">
              <a:lnSpc>
                <a:spcPts val="1678"/>
              </a:lnSpc>
            </a:pPr>
            <a:r>
              <a:rPr lang="en-US" b="true" sz="1399" spc="97">
                <a:solidFill>
                  <a:srgbClr val="000000"/>
                </a:solidFill>
                <a:latin typeface="Poppins Medium"/>
                <a:ea typeface="Poppins Medium"/>
                <a:cs typeface="Poppins Medium"/>
                <a:sym typeface="Poppins Medium"/>
              </a:rPr>
              <a:t>FUENTE: TIPLER, P. FÍSICA PARA LA CIENCIA Y LA TECNOLOGÍA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753224" y="813810"/>
            <a:ext cx="9511178" cy="214890"/>
            <a:chOff x="0" y="0"/>
            <a:chExt cx="25294954" cy="571500"/>
          </a:xfrm>
        </p:grpSpPr>
        <p:sp>
          <p:nvSpPr>
            <p:cNvPr name="Freeform 3" id="3"/>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4" id="4"/>
          <p:cNvGrpSpPr/>
          <p:nvPr/>
        </p:nvGrpSpPr>
        <p:grpSpPr>
          <a:xfrm rot="0">
            <a:off x="0" y="7504795"/>
            <a:ext cx="5743699" cy="2782205"/>
            <a:chOff x="0" y="0"/>
            <a:chExt cx="1942930" cy="941141"/>
          </a:xfrm>
        </p:grpSpPr>
        <p:sp>
          <p:nvSpPr>
            <p:cNvPr name="Freeform 5" id="5"/>
            <p:cNvSpPr/>
            <p:nvPr/>
          </p:nvSpPr>
          <p:spPr>
            <a:xfrm flipH="false" flipV="false" rot="0">
              <a:off x="0" y="0"/>
              <a:ext cx="1942930" cy="941141"/>
            </a:xfrm>
            <a:custGeom>
              <a:avLst/>
              <a:gdLst/>
              <a:ahLst/>
              <a:cxnLst/>
              <a:rect r="r" b="b" t="t" l="l"/>
              <a:pathLst>
                <a:path h="941141" w="1942930">
                  <a:moveTo>
                    <a:pt x="0" y="0"/>
                  </a:moveTo>
                  <a:lnTo>
                    <a:pt x="1942930" y="0"/>
                  </a:lnTo>
                  <a:lnTo>
                    <a:pt x="1942930" y="941141"/>
                  </a:lnTo>
                  <a:lnTo>
                    <a:pt x="0" y="941141"/>
                  </a:lnTo>
                  <a:close/>
                </a:path>
              </a:pathLst>
            </a:custGeom>
            <a:solidFill>
              <a:srgbClr val="D610D4"/>
            </a:solidFill>
          </p:spPr>
        </p:sp>
      </p:grpSp>
      <p:grpSp>
        <p:nvGrpSpPr>
          <p:cNvPr name="Group 6" id="6"/>
          <p:cNvGrpSpPr/>
          <p:nvPr/>
        </p:nvGrpSpPr>
        <p:grpSpPr>
          <a:xfrm rot="0">
            <a:off x="5743699" y="7504795"/>
            <a:ext cx="6852302" cy="2782205"/>
            <a:chOff x="0" y="0"/>
            <a:chExt cx="2317939" cy="941141"/>
          </a:xfrm>
        </p:grpSpPr>
        <p:sp>
          <p:nvSpPr>
            <p:cNvPr name="Freeform 7" id="7"/>
            <p:cNvSpPr/>
            <p:nvPr/>
          </p:nvSpPr>
          <p:spPr>
            <a:xfrm flipH="false" flipV="false" rot="0">
              <a:off x="0" y="0"/>
              <a:ext cx="2317939" cy="941141"/>
            </a:xfrm>
            <a:custGeom>
              <a:avLst/>
              <a:gdLst/>
              <a:ahLst/>
              <a:cxnLst/>
              <a:rect r="r" b="b" t="t" l="l"/>
              <a:pathLst>
                <a:path h="941141" w="2317939">
                  <a:moveTo>
                    <a:pt x="0" y="0"/>
                  </a:moveTo>
                  <a:lnTo>
                    <a:pt x="2317939" y="0"/>
                  </a:lnTo>
                  <a:lnTo>
                    <a:pt x="2317939" y="941141"/>
                  </a:lnTo>
                  <a:lnTo>
                    <a:pt x="0" y="941141"/>
                  </a:lnTo>
                  <a:close/>
                </a:path>
              </a:pathLst>
            </a:custGeom>
            <a:solidFill>
              <a:srgbClr val="9DC6EC"/>
            </a:solidFill>
          </p:spPr>
        </p:sp>
      </p:grpSp>
      <p:grpSp>
        <p:nvGrpSpPr>
          <p:cNvPr name="Group 8" id="8"/>
          <p:cNvGrpSpPr/>
          <p:nvPr/>
        </p:nvGrpSpPr>
        <p:grpSpPr>
          <a:xfrm rot="0">
            <a:off x="12596002" y="7504795"/>
            <a:ext cx="5691998" cy="2782205"/>
            <a:chOff x="0" y="0"/>
            <a:chExt cx="1925441" cy="941141"/>
          </a:xfrm>
        </p:grpSpPr>
        <p:sp>
          <p:nvSpPr>
            <p:cNvPr name="Freeform 9" id="9"/>
            <p:cNvSpPr/>
            <p:nvPr/>
          </p:nvSpPr>
          <p:spPr>
            <a:xfrm flipH="false" flipV="false" rot="0">
              <a:off x="0" y="0"/>
              <a:ext cx="1925441" cy="941141"/>
            </a:xfrm>
            <a:custGeom>
              <a:avLst/>
              <a:gdLst/>
              <a:ahLst/>
              <a:cxnLst/>
              <a:rect r="r" b="b" t="t" l="l"/>
              <a:pathLst>
                <a:path h="941141" w="1925441">
                  <a:moveTo>
                    <a:pt x="0" y="0"/>
                  </a:moveTo>
                  <a:lnTo>
                    <a:pt x="1925441" y="0"/>
                  </a:lnTo>
                  <a:lnTo>
                    <a:pt x="1925441" y="941141"/>
                  </a:lnTo>
                  <a:lnTo>
                    <a:pt x="0" y="941141"/>
                  </a:lnTo>
                  <a:close/>
                </a:path>
              </a:pathLst>
            </a:custGeom>
            <a:solidFill>
              <a:srgbClr val="005CE6"/>
            </a:solidFill>
          </p:spPr>
        </p:sp>
      </p:grpSp>
      <p:sp>
        <p:nvSpPr>
          <p:cNvPr name="Freeform 10" id="10"/>
          <p:cNvSpPr/>
          <p:nvPr/>
        </p:nvSpPr>
        <p:spPr>
          <a:xfrm flipH="false" flipV="false" rot="5400000">
            <a:off x="12498844" y="6956787"/>
            <a:ext cx="3425487" cy="3415169"/>
          </a:xfrm>
          <a:custGeom>
            <a:avLst/>
            <a:gdLst/>
            <a:ahLst/>
            <a:cxnLst/>
            <a:rect r="r" b="b" t="t" l="l"/>
            <a:pathLst>
              <a:path h="3415169" w="3425487">
                <a:moveTo>
                  <a:pt x="0" y="0"/>
                </a:moveTo>
                <a:lnTo>
                  <a:pt x="3425487" y="0"/>
                </a:lnTo>
                <a:lnTo>
                  <a:pt x="3425487" y="3415169"/>
                </a:lnTo>
                <a:lnTo>
                  <a:pt x="0" y="3415169"/>
                </a:lnTo>
                <a:lnTo>
                  <a:pt x="0" y="0"/>
                </a:lnTo>
                <a:close/>
              </a:path>
            </a:pathLst>
          </a:custGeom>
          <a:blipFill>
            <a:blip r:embed="rId2"/>
            <a:stretch>
              <a:fillRect l="0" t="0" r="0" b="0"/>
            </a:stretch>
          </a:blipFill>
        </p:spPr>
      </p:sp>
      <p:grpSp>
        <p:nvGrpSpPr>
          <p:cNvPr name="Group 11" id="11"/>
          <p:cNvGrpSpPr/>
          <p:nvPr/>
        </p:nvGrpSpPr>
        <p:grpSpPr>
          <a:xfrm rot="0">
            <a:off x="4352597" y="7504795"/>
            <a:ext cx="2782205" cy="2782205"/>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7318"/>
            </a:solidFill>
          </p:spPr>
        </p:sp>
      </p:grpSp>
      <p:grpSp>
        <p:nvGrpSpPr>
          <p:cNvPr name="Group 13" id="13"/>
          <p:cNvGrpSpPr/>
          <p:nvPr/>
        </p:nvGrpSpPr>
        <p:grpSpPr>
          <a:xfrm rot="0">
            <a:off x="1426197" y="2766800"/>
            <a:ext cx="6823078" cy="2886684"/>
            <a:chOff x="0" y="0"/>
            <a:chExt cx="9097438" cy="3848912"/>
          </a:xfrm>
        </p:grpSpPr>
        <p:sp>
          <p:nvSpPr>
            <p:cNvPr name="TextBox 14" id="14"/>
            <p:cNvSpPr txBox="true"/>
            <p:nvPr/>
          </p:nvSpPr>
          <p:spPr>
            <a:xfrm rot="0">
              <a:off x="0" y="-57150"/>
              <a:ext cx="9097438" cy="2608719"/>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Ecuación de la Ley de Faraday</a:t>
              </a:r>
            </a:p>
          </p:txBody>
        </p:sp>
        <p:sp>
          <p:nvSpPr>
            <p:cNvPr name="TextBox 15" id="15"/>
            <p:cNvSpPr txBox="true"/>
            <p:nvPr/>
          </p:nvSpPr>
          <p:spPr>
            <a:xfrm rot="0">
              <a:off x="0" y="2997829"/>
              <a:ext cx="9097438" cy="851083"/>
            </a:xfrm>
            <a:prstGeom prst="rect">
              <a:avLst/>
            </a:prstGeom>
          </p:spPr>
          <p:txBody>
            <a:bodyPr anchor="t" rtlCol="false" tIns="0" lIns="0" bIns="0" rIns="0">
              <a:spAutoFit/>
            </a:bodyPr>
            <a:lstStyle/>
            <a:p>
              <a:pPr algn="l" marL="0" indent="0" lvl="0">
                <a:lnSpc>
                  <a:spcPts val="2519"/>
                </a:lnSpc>
              </a:pPr>
              <a:r>
                <a:rPr lang="en-US" b="true" sz="2099" spc="52">
                  <a:solidFill>
                    <a:srgbClr val="000000"/>
                  </a:solidFill>
                  <a:latin typeface="Poppins Medium"/>
                  <a:ea typeface="Poppins Medium"/>
                  <a:cs typeface="Poppins Medium"/>
                  <a:sym typeface="Poppins Medium"/>
                </a:rPr>
                <a:t>FEM = -DΦ/DT: LA BASE MATEMÁTICA DE LA INDUCCIÓN</a:t>
              </a:r>
            </a:p>
          </p:txBody>
        </p:sp>
      </p:grpSp>
      <p:sp>
        <p:nvSpPr>
          <p:cNvPr name="TextBox 16" id="16"/>
          <p:cNvSpPr txBox="true"/>
          <p:nvPr/>
        </p:nvSpPr>
        <p:spPr>
          <a:xfrm rot="0">
            <a:off x="15374896" y="794760"/>
            <a:ext cx="1884404"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05 / 20</a:t>
            </a:r>
          </a:p>
        </p:txBody>
      </p:sp>
      <p:sp>
        <p:nvSpPr>
          <p:cNvPr name="TextBox 17" id="17"/>
          <p:cNvSpPr txBox="true"/>
          <p:nvPr/>
        </p:nvSpPr>
        <p:spPr>
          <a:xfrm rot="0">
            <a:off x="1028700" y="794760"/>
            <a:ext cx="4724524" cy="227058"/>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LEY DE FARADAY Y ELECTROMAGNETISMO</a:t>
            </a:r>
          </a:p>
        </p:txBody>
      </p:sp>
      <p:sp>
        <p:nvSpPr>
          <p:cNvPr name="Freeform 18" id="18"/>
          <p:cNvSpPr/>
          <p:nvPr/>
        </p:nvSpPr>
        <p:spPr>
          <a:xfrm flipH="false" flipV="false" rot="-5400000">
            <a:off x="2127043" y="8126625"/>
            <a:ext cx="2859419" cy="1526837"/>
          </a:xfrm>
          <a:custGeom>
            <a:avLst/>
            <a:gdLst/>
            <a:ahLst/>
            <a:cxnLst/>
            <a:rect r="r" b="b" t="t" l="l"/>
            <a:pathLst>
              <a:path h="1526837" w="2859419">
                <a:moveTo>
                  <a:pt x="0" y="0"/>
                </a:moveTo>
                <a:lnTo>
                  <a:pt x="2859420" y="0"/>
                </a:lnTo>
                <a:lnTo>
                  <a:pt x="2859420" y="1526836"/>
                </a:lnTo>
                <a:lnTo>
                  <a:pt x="0" y="1526836"/>
                </a:lnTo>
                <a:lnTo>
                  <a:pt x="0" y="0"/>
                </a:lnTo>
                <a:close/>
              </a:path>
            </a:pathLst>
          </a:custGeom>
          <a:blipFill>
            <a:blip r:embed="rId3"/>
            <a:stretch>
              <a:fillRect l="0" t="0" r="0" b="0"/>
            </a:stretch>
          </a:blipFill>
        </p:spPr>
      </p:sp>
      <p:sp>
        <p:nvSpPr>
          <p:cNvPr name="TextBox 19" id="19"/>
          <p:cNvSpPr txBox="true"/>
          <p:nvPr/>
        </p:nvSpPr>
        <p:spPr>
          <a:xfrm rot="0">
            <a:off x="9174741" y="2140954"/>
            <a:ext cx="7738763" cy="4119327"/>
          </a:xfrm>
          <a:prstGeom prst="rect">
            <a:avLst/>
          </a:prstGeom>
        </p:spPr>
        <p:txBody>
          <a:bodyPr anchor="t" rtlCol="false" tIns="0" lIns="0" bIns="0" rIns="0">
            <a:spAutoFit/>
          </a:bodyPr>
          <a:lstStyle/>
          <a:p>
            <a:pPr algn="l" marL="0" indent="0" lvl="0">
              <a:lnSpc>
                <a:spcPts val="3024"/>
              </a:lnSpc>
            </a:pPr>
            <a:r>
              <a:rPr lang="en-US" sz="2400" spc="24">
                <a:solidFill>
                  <a:srgbClr val="000000"/>
                </a:solidFill>
                <a:latin typeface="HK Grotesk Light"/>
                <a:ea typeface="HK Grotesk Light"/>
                <a:cs typeface="HK Grotesk Light"/>
                <a:sym typeface="HK Grotesk Light"/>
              </a:rPr>
              <a:t>La ecuación fundamental de Faraday se expresa como: FEM = -dΦ/dt, donde FEM es la fuerza electromotriz inducida y Φ es el flujo magnético.</a:t>
            </a:r>
          </a:p>
          <a:p>
            <a:pPr algn="l" marL="0" indent="0" lvl="0">
              <a:lnSpc>
                <a:spcPts val="3024"/>
              </a:lnSpc>
            </a:pPr>
            <a:r>
              <a:rPr lang="en-US" sz="2400" spc="24">
                <a:solidFill>
                  <a:srgbClr val="000000"/>
                </a:solidFill>
                <a:latin typeface="HK Grotesk Light"/>
                <a:ea typeface="HK Grotesk Light"/>
                <a:cs typeface="HK Grotesk Light"/>
                <a:sym typeface="HK Grotesk Light"/>
              </a:rPr>
              <a:t>El signo negativo representa la Ley de Lenz: la corriente inducida genera un campo magnético que se opone al cambio de flujo que la produce. Esto es fundamental para la conservación de energía.</a:t>
            </a:r>
          </a:p>
          <a:p>
            <a:pPr algn="l" marL="0" indent="0" lvl="0">
              <a:lnSpc>
                <a:spcPts val="3024"/>
              </a:lnSpc>
            </a:pPr>
            <a:r>
              <a:rPr lang="en-US" sz="2400" spc="24">
                <a:solidFill>
                  <a:srgbClr val="000000"/>
                </a:solidFill>
                <a:latin typeface="HK Grotesk Light"/>
                <a:ea typeface="HK Grotesk Light"/>
                <a:cs typeface="HK Grotesk Light"/>
                <a:sym typeface="HK Grotesk Light"/>
              </a:rPr>
              <a:t>El flujo magnético Φ = B·A·cos(θ), donde B es el campo magnético, A es el área de la espira y θ es el ángulo entre el campo y la normal a la superficie.</a:t>
            </a:r>
          </a:p>
          <a:p>
            <a:pPr algn="l" marL="0" indent="0" lvl="0">
              <a:lnSpc>
                <a:spcPts val="3024"/>
              </a:lnSpc>
            </a:pPr>
            <a:r>
              <a:rPr lang="en-US" sz="2400" spc="24">
                <a:solidFill>
                  <a:srgbClr val="000000"/>
                </a:solidFill>
                <a:latin typeface="HK Grotesk Light"/>
                <a:ea typeface="HK Grotesk Light"/>
                <a:cs typeface="HK Grotesk Light"/>
                <a:sym typeface="HK Grotesk Light"/>
              </a:rPr>
              <a:t>Fuente: Halliday, D. Fundamentos de Física, Vol. 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683008" y="0"/>
            <a:ext cx="12604992" cy="10287000"/>
            <a:chOff x="0" y="0"/>
            <a:chExt cx="16806656" cy="13716000"/>
          </a:xfrm>
        </p:grpSpPr>
        <p:pic>
          <p:nvPicPr>
            <p:cNvPr name="Picture 3" id="3"/>
            <p:cNvPicPr>
              <a:picLocks noChangeAspect="true"/>
            </p:cNvPicPr>
            <p:nvPr/>
          </p:nvPicPr>
          <p:blipFill>
            <a:blip r:embed="rId2"/>
            <a:srcRect l="0" t="3127" r="0" b="3127"/>
            <a:stretch>
              <a:fillRect/>
            </a:stretch>
          </p:blipFill>
          <p:spPr>
            <a:xfrm flipH="false" flipV="false">
              <a:off x="0" y="0"/>
              <a:ext cx="8339828" cy="13716000"/>
            </a:xfrm>
            <a:prstGeom prst="rect">
              <a:avLst/>
            </a:prstGeom>
          </p:spPr>
        </p:pic>
        <p:pic>
          <p:nvPicPr>
            <p:cNvPr name="Picture 4" id="4"/>
            <p:cNvPicPr>
              <a:picLocks noChangeAspect="true"/>
            </p:cNvPicPr>
            <p:nvPr/>
          </p:nvPicPr>
          <p:blipFill>
            <a:blip r:embed="rId3"/>
            <a:srcRect l="365" t="0" r="365" b="0"/>
            <a:stretch>
              <a:fillRect/>
            </a:stretch>
          </p:blipFill>
          <p:spPr>
            <a:xfrm flipH="false" flipV="false">
              <a:off x="8466828" y="0"/>
              <a:ext cx="8339828" cy="6794500"/>
            </a:xfrm>
            <a:prstGeom prst="rect">
              <a:avLst/>
            </a:prstGeom>
          </p:spPr>
        </p:pic>
        <p:pic>
          <p:nvPicPr>
            <p:cNvPr name="Picture 5" id="5"/>
            <p:cNvPicPr>
              <a:picLocks noChangeAspect="true"/>
            </p:cNvPicPr>
            <p:nvPr/>
          </p:nvPicPr>
          <p:blipFill>
            <a:blip r:embed="rId4"/>
            <a:srcRect l="365" t="0" r="365" b="0"/>
            <a:stretch>
              <a:fillRect/>
            </a:stretch>
          </p:blipFill>
          <p:spPr>
            <a:xfrm flipH="false" flipV="false">
              <a:off x="8466828" y="6921500"/>
              <a:ext cx="8339828" cy="6794500"/>
            </a:xfrm>
            <a:prstGeom prst="rect">
              <a:avLst/>
            </a:prstGeom>
          </p:spPr>
        </p:pic>
      </p:grpSp>
      <p:sp>
        <p:nvSpPr>
          <p:cNvPr name="TextBox 6" id="6"/>
          <p:cNvSpPr txBox="true"/>
          <p:nvPr/>
        </p:nvSpPr>
        <p:spPr>
          <a:xfrm rot="0">
            <a:off x="1028700" y="1997327"/>
            <a:ext cx="3500240" cy="6716764"/>
          </a:xfrm>
          <a:prstGeom prst="rect">
            <a:avLst/>
          </a:prstGeom>
        </p:spPr>
        <p:txBody>
          <a:bodyPr anchor="t" rtlCol="false" tIns="0" lIns="0" bIns="0" rIns="0">
            <a:spAutoFit/>
          </a:bodyPr>
          <a:lstStyle/>
          <a:p>
            <a:pPr algn="l" marL="0" indent="0" lvl="0">
              <a:lnSpc>
                <a:spcPts val="3120"/>
              </a:lnSpc>
            </a:pPr>
            <a:r>
              <a:rPr lang="en-US" sz="2400" spc="24">
                <a:solidFill>
                  <a:srgbClr val="000000"/>
                </a:solidFill>
                <a:latin typeface="HK Grotesk Light"/>
                <a:ea typeface="HK Grotesk Light"/>
                <a:cs typeface="HK Grotesk Light"/>
                <a:sym typeface="HK Grotesk Light"/>
              </a:rPr>
              <a:t>La Ley de Faraday establece que el voltaje inducido en un circuito es proporcional a la tasa de cambio del flujo magnético. Los diagramas muestran: líneas de campo magnético atravesando una bobina, variación del flujo al mover un imán, y la generación de fuerza electromotriz (FEM) resultante.</a:t>
            </a:r>
          </a:p>
          <a:p>
            <a:pPr algn="l" marL="0" indent="0" lvl="0">
              <a:lnSpc>
                <a:spcPts val="3120"/>
              </a:lnSpc>
            </a:pPr>
            <a:r>
              <a:rPr lang="en-US" sz="2400" spc="24">
                <a:solidFill>
                  <a:srgbClr val="000000"/>
                </a:solidFill>
                <a:latin typeface="HK Grotesk Light"/>
                <a:ea typeface="HK Grotesk Light"/>
                <a:cs typeface="HK Grotesk Light"/>
                <a:sym typeface="HK Grotesk Light"/>
              </a:rPr>
              <a:t>Fuente: Young &amp; Freedman, Física Universitaria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0143638" y="0"/>
            <a:ext cx="8144362" cy="10287000"/>
            <a:chOff x="0" y="0"/>
            <a:chExt cx="2755006" cy="3479800"/>
          </a:xfrm>
        </p:grpSpPr>
        <p:sp>
          <p:nvSpPr>
            <p:cNvPr name="Freeform 3" id="3"/>
            <p:cNvSpPr/>
            <p:nvPr/>
          </p:nvSpPr>
          <p:spPr>
            <a:xfrm flipH="false" flipV="false" rot="0">
              <a:off x="0" y="0"/>
              <a:ext cx="2755006" cy="3479800"/>
            </a:xfrm>
            <a:custGeom>
              <a:avLst/>
              <a:gdLst/>
              <a:ahLst/>
              <a:cxnLst/>
              <a:rect r="r" b="b" t="t" l="l"/>
              <a:pathLst>
                <a:path h="3479800" w="2755006">
                  <a:moveTo>
                    <a:pt x="0" y="0"/>
                  </a:moveTo>
                  <a:lnTo>
                    <a:pt x="2755006" y="0"/>
                  </a:lnTo>
                  <a:lnTo>
                    <a:pt x="2755006" y="3479800"/>
                  </a:lnTo>
                  <a:lnTo>
                    <a:pt x="0" y="3479800"/>
                  </a:lnTo>
                  <a:close/>
                </a:path>
              </a:pathLst>
            </a:custGeom>
            <a:solidFill>
              <a:srgbClr val="1D7144"/>
            </a:solidFill>
          </p:spPr>
        </p:sp>
      </p:grpSp>
      <p:grpSp>
        <p:nvGrpSpPr>
          <p:cNvPr name="Group 4" id="4"/>
          <p:cNvGrpSpPr/>
          <p:nvPr/>
        </p:nvGrpSpPr>
        <p:grpSpPr>
          <a:xfrm rot="0">
            <a:off x="10143638" y="0"/>
            <a:ext cx="8144362" cy="4071571"/>
            <a:chOff x="0" y="0"/>
            <a:chExt cx="2755006" cy="1377297"/>
          </a:xfrm>
        </p:grpSpPr>
        <p:sp>
          <p:nvSpPr>
            <p:cNvPr name="Freeform 5" id="5"/>
            <p:cNvSpPr/>
            <p:nvPr/>
          </p:nvSpPr>
          <p:spPr>
            <a:xfrm flipH="false" flipV="false" rot="0">
              <a:off x="0" y="0"/>
              <a:ext cx="2755006" cy="1377297"/>
            </a:xfrm>
            <a:custGeom>
              <a:avLst/>
              <a:gdLst/>
              <a:ahLst/>
              <a:cxnLst/>
              <a:rect r="r" b="b" t="t" l="l"/>
              <a:pathLst>
                <a:path h="1377297" w="2755006">
                  <a:moveTo>
                    <a:pt x="0" y="0"/>
                  </a:moveTo>
                  <a:lnTo>
                    <a:pt x="2755006" y="0"/>
                  </a:lnTo>
                  <a:lnTo>
                    <a:pt x="2755006" y="1377297"/>
                  </a:lnTo>
                  <a:lnTo>
                    <a:pt x="0" y="1377297"/>
                  </a:lnTo>
                  <a:close/>
                </a:path>
              </a:pathLst>
            </a:custGeom>
            <a:solidFill>
              <a:srgbClr val="005CE6"/>
            </a:solidFill>
          </p:spPr>
        </p:sp>
      </p:grpSp>
      <p:grpSp>
        <p:nvGrpSpPr>
          <p:cNvPr name="Group 6" id="6"/>
          <p:cNvGrpSpPr/>
          <p:nvPr/>
        </p:nvGrpSpPr>
        <p:grpSpPr>
          <a:xfrm rot="0">
            <a:off x="1976010" y="4124259"/>
            <a:ext cx="7038863" cy="2163287"/>
            <a:chOff x="0" y="0"/>
            <a:chExt cx="9385151" cy="2884382"/>
          </a:xfrm>
        </p:grpSpPr>
        <p:sp>
          <p:nvSpPr>
            <p:cNvPr name="TextBox 7" id="7"/>
            <p:cNvSpPr txBox="true"/>
            <p:nvPr/>
          </p:nvSpPr>
          <p:spPr>
            <a:xfrm rot="0">
              <a:off x="0" y="-57150"/>
              <a:ext cx="9385151" cy="1332934"/>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Las Bobinas</a:t>
              </a:r>
            </a:p>
          </p:txBody>
        </p:sp>
        <p:sp>
          <p:nvSpPr>
            <p:cNvPr name="TextBox 8" id="8"/>
            <p:cNvSpPr txBox="true"/>
            <p:nvPr/>
          </p:nvSpPr>
          <p:spPr>
            <a:xfrm rot="0">
              <a:off x="0" y="1404091"/>
              <a:ext cx="7570850" cy="1480291"/>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COMPONENTES ESENCIALES</a:t>
              </a:r>
            </a:p>
          </p:txBody>
        </p:sp>
      </p:grpSp>
      <p:grpSp>
        <p:nvGrpSpPr>
          <p:cNvPr name="Group 9" id="9"/>
          <p:cNvGrpSpPr/>
          <p:nvPr/>
        </p:nvGrpSpPr>
        <p:grpSpPr>
          <a:xfrm rot="0">
            <a:off x="12264572" y="2114640"/>
            <a:ext cx="3902495" cy="390249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966"/>
            </a:solidFill>
          </p:spPr>
        </p:sp>
      </p:grpSp>
      <p:sp>
        <p:nvSpPr>
          <p:cNvPr name="TextBox 11" id="11"/>
          <p:cNvSpPr txBox="true"/>
          <p:nvPr/>
        </p:nvSpPr>
        <p:spPr>
          <a:xfrm rot="0">
            <a:off x="1028700" y="9031242"/>
            <a:ext cx="4724524" cy="435067"/>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FUENTE: BOYLESTAD, R. INTRODUCCIÓN AL ANÁLISIS DE CIRCUITOS</a:t>
            </a:r>
          </a:p>
        </p:txBody>
      </p:sp>
      <p:grpSp>
        <p:nvGrpSpPr>
          <p:cNvPr name="Group 12" id="12"/>
          <p:cNvGrpSpPr/>
          <p:nvPr/>
        </p:nvGrpSpPr>
        <p:grpSpPr>
          <a:xfrm rot="0">
            <a:off x="5753224" y="9258300"/>
            <a:ext cx="3390776" cy="214890"/>
            <a:chOff x="0" y="0"/>
            <a:chExt cx="9017760" cy="571500"/>
          </a:xfrm>
        </p:grpSpPr>
        <p:sp>
          <p:nvSpPr>
            <p:cNvPr name="Freeform 13" id="13"/>
            <p:cNvSpPr/>
            <p:nvPr/>
          </p:nvSpPr>
          <p:spPr>
            <a:xfrm flipH="false" flipV="false" rot="0">
              <a:off x="0" y="255270"/>
              <a:ext cx="9017760" cy="69850"/>
            </a:xfrm>
            <a:custGeom>
              <a:avLst/>
              <a:gdLst/>
              <a:ahLst/>
              <a:cxnLst/>
              <a:rect r="r" b="b" t="t" l="l"/>
              <a:pathLst>
                <a:path h="69850" w="9017760">
                  <a:moveTo>
                    <a:pt x="8726929" y="0"/>
                  </a:moveTo>
                  <a:lnTo>
                    <a:pt x="0" y="0"/>
                  </a:lnTo>
                  <a:lnTo>
                    <a:pt x="0" y="69850"/>
                  </a:lnTo>
                  <a:lnTo>
                    <a:pt x="9017760" y="69850"/>
                  </a:lnTo>
                  <a:lnTo>
                    <a:pt x="9017760" y="0"/>
                  </a:lnTo>
                  <a:close/>
                </a:path>
              </a:pathLst>
            </a:custGeom>
            <a:solidFill>
              <a:srgbClr val="000000"/>
            </a:solidFill>
          </p:spPr>
        </p:sp>
      </p:grpSp>
      <p:sp>
        <p:nvSpPr>
          <p:cNvPr name="TextBox 14" id="14"/>
          <p:cNvSpPr txBox="true"/>
          <p:nvPr/>
        </p:nvSpPr>
        <p:spPr>
          <a:xfrm rot="0">
            <a:off x="1028700" y="801642"/>
            <a:ext cx="3849408" cy="227058"/>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SECCIÓN 2</a:t>
            </a:r>
          </a:p>
        </p:txBody>
      </p:sp>
      <p:sp>
        <p:nvSpPr>
          <p:cNvPr name="Freeform 15" id="15"/>
          <p:cNvSpPr/>
          <p:nvPr/>
        </p:nvSpPr>
        <p:spPr>
          <a:xfrm flipH="false" flipV="false" rot="0">
            <a:off x="11967057" y="4965763"/>
            <a:ext cx="4518512" cy="4529348"/>
          </a:xfrm>
          <a:custGeom>
            <a:avLst/>
            <a:gdLst/>
            <a:ahLst/>
            <a:cxnLst/>
            <a:rect r="r" b="b" t="t" l="l"/>
            <a:pathLst>
              <a:path h="4529348" w="4518512">
                <a:moveTo>
                  <a:pt x="0" y="0"/>
                </a:moveTo>
                <a:lnTo>
                  <a:pt x="4518513" y="0"/>
                </a:lnTo>
                <a:lnTo>
                  <a:pt x="4518513" y="4529348"/>
                </a:lnTo>
                <a:lnTo>
                  <a:pt x="0" y="4529348"/>
                </a:lnTo>
                <a:lnTo>
                  <a:pt x="0" y="0"/>
                </a:lnTo>
                <a:close/>
              </a:path>
            </a:pathLst>
          </a:custGeom>
          <a:blipFill>
            <a:blip r:embed="rId2"/>
            <a:stretch>
              <a:fillRect l="0" t="0" r="0" b="0"/>
            </a:stretch>
          </a:blipFill>
        </p:spPr>
      </p:sp>
      <p:sp>
        <p:nvSpPr>
          <p:cNvPr name="Freeform 16" id="16"/>
          <p:cNvSpPr/>
          <p:nvPr/>
        </p:nvSpPr>
        <p:spPr>
          <a:xfrm flipH="false" flipV="false" rot="0">
            <a:off x="11964184" y="4643926"/>
            <a:ext cx="4525215" cy="5179148"/>
          </a:xfrm>
          <a:custGeom>
            <a:avLst/>
            <a:gdLst/>
            <a:ahLst/>
            <a:cxnLst/>
            <a:rect r="r" b="b" t="t" l="l"/>
            <a:pathLst>
              <a:path h="5179148" w="4525215">
                <a:moveTo>
                  <a:pt x="0" y="0"/>
                </a:moveTo>
                <a:lnTo>
                  <a:pt x="4525214" y="0"/>
                </a:lnTo>
                <a:lnTo>
                  <a:pt x="4525214" y="5179148"/>
                </a:lnTo>
                <a:lnTo>
                  <a:pt x="0" y="5179148"/>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976010" y="4321273"/>
            <a:ext cx="6218200" cy="2655431"/>
          </a:xfrm>
          <a:prstGeom prst="rect">
            <a:avLst/>
          </a:prstGeom>
        </p:spPr>
        <p:txBody>
          <a:bodyPr anchor="t" rtlCol="false" tIns="0" lIns="0" bIns="0" rIns="0">
            <a:spAutoFit/>
          </a:bodyPr>
          <a:lstStyle/>
          <a:p>
            <a:pPr algn="l" marL="0" indent="0" lvl="0">
              <a:lnSpc>
                <a:spcPts val="2674"/>
              </a:lnSpc>
            </a:pPr>
            <a:r>
              <a:rPr lang="en-US" sz="2057" spc="20">
                <a:solidFill>
                  <a:srgbClr val="000000"/>
                </a:solidFill>
                <a:latin typeface="HK Grotesk Light"/>
                <a:ea typeface="HK Grotesk Light"/>
                <a:cs typeface="HK Grotesk Light"/>
                <a:sym typeface="HK Grotesk Light"/>
              </a:rPr>
              <a:t>En electrónica, las bobinas son fundamentales como inductores y transformadores. Los inductores almacenan energía en campos magnéticos, filtran señales y regulan corrientes. Los transformadores permiten modificar niveles de voltaje mediante inducción electromagnética, siendo esenciales en fuentes de alimentación y sistemas de distribución eléctrica.</a:t>
            </a:r>
          </a:p>
        </p:txBody>
      </p:sp>
      <p:sp>
        <p:nvSpPr>
          <p:cNvPr name="TextBox 3" id="3"/>
          <p:cNvSpPr txBox="true"/>
          <p:nvPr/>
        </p:nvSpPr>
        <p:spPr>
          <a:xfrm rot="0">
            <a:off x="9749369" y="4321273"/>
            <a:ext cx="6218200" cy="2655431"/>
          </a:xfrm>
          <a:prstGeom prst="rect">
            <a:avLst/>
          </a:prstGeom>
        </p:spPr>
        <p:txBody>
          <a:bodyPr anchor="t" rtlCol="false" tIns="0" lIns="0" bIns="0" rIns="0">
            <a:spAutoFit/>
          </a:bodyPr>
          <a:lstStyle/>
          <a:p>
            <a:pPr algn="l" marL="0" indent="0" lvl="0">
              <a:lnSpc>
                <a:spcPts val="2674"/>
              </a:lnSpc>
            </a:pPr>
            <a:r>
              <a:rPr lang="en-US" sz="2057" spc="20">
                <a:solidFill>
                  <a:srgbClr val="000000"/>
                </a:solidFill>
                <a:latin typeface="HK Grotesk Light"/>
                <a:ea typeface="HK Grotesk Light"/>
                <a:cs typeface="HK Grotesk Light"/>
                <a:sym typeface="HK Grotesk Light"/>
              </a:rPr>
              <a:t>En mecánica, las bobinas son el corazón de motores eléctricos y actuadores. Los motores convierten energía eléctrica en movimiento rotatorio mediante la interacción de campos magnéticos. Los actuadores electromagnéticos (solenoides) generan movimiento lineal para válvulas, cerraduras y sistemas de control industrial.</a:t>
            </a:r>
          </a:p>
          <a:p>
            <a:pPr algn="l" marL="0" indent="0" lvl="0">
              <a:lnSpc>
                <a:spcPts val="2674"/>
              </a:lnSpc>
            </a:pPr>
            <a:r>
              <a:rPr lang="en-US" sz="2057" spc="20">
                <a:solidFill>
                  <a:srgbClr val="000000"/>
                </a:solidFill>
                <a:latin typeface="HK Grotesk Light"/>
                <a:ea typeface="HK Grotesk Light"/>
                <a:cs typeface="HK Grotesk Light"/>
                <a:sym typeface="HK Grotesk Light"/>
              </a:rPr>
              <a:t>Fuente: Boylestad, R. Electrónica: Teoría de Circuitos</a:t>
            </a:r>
          </a:p>
        </p:txBody>
      </p:sp>
      <p:grpSp>
        <p:nvGrpSpPr>
          <p:cNvPr name="Group 4" id="4"/>
          <p:cNvGrpSpPr/>
          <p:nvPr/>
        </p:nvGrpSpPr>
        <p:grpSpPr>
          <a:xfrm rot="0">
            <a:off x="12596002" y="7504795"/>
            <a:ext cx="5691998" cy="2782205"/>
            <a:chOff x="0" y="0"/>
            <a:chExt cx="1925441" cy="941141"/>
          </a:xfrm>
        </p:grpSpPr>
        <p:sp>
          <p:nvSpPr>
            <p:cNvPr name="Freeform 5" id="5"/>
            <p:cNvSpPr/>
            <p:nvPr/>
          </p:nvSpPr>
          <p:spPr>
            <a:xfrm flipH="false" flipV="false" rot="0">
              <a:off x="0" y="0"/>
              <a:ext cx="1925441" cy="941141"/>
            </a:xfrm>
            <a:custGeom>
              <a:avLst/>
              <a:gdLst/>
              <a:ahLst/>
              <a:cxnLst/>
              <a:rect r="r" b="b" t="t" l="l"/>
              <a:pathLst>
                <a:path h="941141" w="1925441">
                  <a:moveTo>
                    <a:pt x="0" y="0"/>
                  </a:moveTo>
                  <a:lnTo>
                    <a:pt x="1925441" y="0"/>
                  </a:lnTo>
                  <a:lnTo>
                    <a:pt x="1925441" y="941141"/>
                  </a:lnTo>
                  <a:lnTo>
                    <a:pt x="0" y="941141"/>
                  </a:lnTo>
                  <a:close/>
                </a:path>
              </a:pathLst>
            </a:custGeom>
            <a:solidFill>
              <a:srgbClr val="005CE6"/>
            </a:solidFill>
          </p:spPr>
        </p:sp>
      </p:grpSp>
      <p:grpSp>
        <p:nvGrpSpPr>
          <p:cNvPr name="Group 6" id="6"/>
          <p:cNvGrpSpPr/>
          <p:nvPr/>
        </p:nvGrpSpPr>
        <p:grpSpPr>
          <a:xfrm rot="0">
            <a:off x="0" y="7504795"/>
            <a:ext cx="5531873" cy="2782205"/>
            <a:chOff x="0" y="0"/>
            <a:chExt cx="1871275" cy="941141"/>
          </a:xfrm>
        </p:grpSpPr>
        <p:sp>
          <p:nvSpPr>
            <p:cNvPr name="Freeform 7" id="7"/>
            <p:cNvSpPr/>
            <p:nvPr/>
          </p:nvSpPr>
          <p:spPr>
            <a:xfrm flipH="false" flipV="false" rot="0">
              <a:off x="0" y="0"/>
              <a:ext cx="1871275" cy="941141"/>
            </a:xfrm>
            <a:custGeom>
              <a:avLst/>
              <a:gdLst/>
              <a:ahLst/>
              <a:cxnLst/>
              <a:rect r="r" b="b" t="t" l="l"/>
              <a:pathLst>
                <a:path h="941141" w="1871275">
                  <a:moveTo>
                    <a:pt x="0" y="0"/>
                  </a:moveTo>
                  <a:lnTo>
                    <a:pt x="1871275" y="0"/>
                  </a:lnTo>
                  <a:lnTo>
                    <a:pt x="1871275" y="941141"/>
                  </a:lnTo>
                  <a:lnTo>
                    <a:pt x="0" y="941141"/>
                  </a:lnTo>
                  <a:close/>
                </a:path>
              </a:pathLst>
            </a:custGeom>
            <a:solidFill>
              <a:srgbClr val="D610D4"/>
            </a:solidFill>
          </p:spPr>
        </p:sp>
      </p:grpSp>
      <p:grpSp>
        <p:nvGrpSpPr>
          <p:cNvPr name="Group 8" id="8"/>
          <p:cNvGrpSpPr/>
          <p:nvPr/>
        </p:nvGrpSpPr>
        <p:grpSpPr>
          <a:xfrm rot="0">
            <a:off x="4157039" y="7504795"/>
            <a:ext cx="8438963" cy="2782205"/>
            <a:chOff x="0" y="0"/>
            <a:chExt cx="2854661" cy="941141"/>
          </a:xfrm>
        </p:grpSpPr>
        <p:sp>
          <p:nvSpPr>
            <p:cNvPr name="Freeform 9" id="9"/>
            <p:cNvSpPr/>
            <p:nvPr/>
          </p:nvSpPr>
          <p:spPr>
            <a:xfrm flipH="false" flipV="false" rot="0">
              <a:off x="0" y="0"/>
              <a:ext cx="2854661" cy="941141"/>
            </a:xfrm>
            <a:custGeom>
              <a:avLst/>
              <a:gdLst/>
              <a:ahLst/>
              <a:cxnLst/>
              <a:rect r="r" b="b" t="t" l="l"/>
              <a:pathLst>
                <a:path h="941141" w="2854661">
                  <a:moveTo>
                    <a:pt x="0" y="0"/>
                  </a:moveTo>
                  <a:lnTo>
                    <a:pt x="2854661" y="0"/>
                  </a:lnTo>
                  <a:lnTo>
                    <a:pt x="2854661" y="941141"/>
                  </a:lnTo>
                  <a:lnTo>
                    <a:pt x="0" y="941141"/>
                  </a:lnTo>
                  <a:close/>
                </a:path>
              </a:pathLst>
            </a:custGeom>
            <a:solidFill>
              <a:srgbClr val="F17318"/>
            </a:solidFill>
          </p:spPr>
        </p:sp>
      </p:grpSp>
      <p:sp>
        <p:nvSpPr>
          <p:cNvPr name="Freeform 10" id="10"/>
          <p:cNvSpPr/>
          <p:nvPr/>
        </p:nvSpPr>
        <p:spPr>
          <a:xfrm flipH="false" flipV="false" rot="5400000">
            <a:off x="-824731" y="7712902"/>
            <a:ext cx="3010171" cy="2392342"/>
          </a:xfrm>
          <a:custGeom>
            <a:avLst/>
            <a:gdLst/>
            <a:ahLst/>
            <a:cxnLst/>
            <a:rect r="r" b="b" t="t" l="l"/>
            <a:pathLst>
              <a:path h="2392342" w="3010171">
                <a:moveTo>
                  <a:pt x="0" y="0"/>
                </a:moveTo>
                <a:lnTo>
                  <a:pt x="3010170" y="0"/>
                </a:lnTo>
                <a:lnTo>
                  <a:pt x="3010170" y="2392342"/>
                </a:lnTo>
                <a:lnTo>
                  <a:pt x="0" y="2392342"/>
                </a:lnTo>
                <a:lnTo>
                  <a:pt x="0" y="0"/>
                </a:lnTo>
                <a:close/>
              </a:path>
            </a:pathLst>
          </a:custGeom>
          <a:blipFill>
            <a:blip r:embed="rId2"/>
            <a:stretch>
              <a:fillRect l="0" t="0" r="0" b="0"/>
            </a:stretch>
          </a:blipFill>
        </p:spPr>
      </p:sp>
      <p:sp>
        <p:nvSpPr>
          <p:cNvPr name="Freeform 11" id="11"/>
          <p:cNvSpPr/>
          <p:nvPr/>
        </p:nvSpPr>
        <p:spPr>
          <a:xfrm flipH="false" flipV="false" rot="5400000">
            <a:off x="2067381" y="8007049"/>
            <a:ext cx="2796186" cy="1520426"/>
          </a:xfrm>
          <a:custGeom>
            <a:avLst/>
            <a:gdLst/>
            <a:ahLst/>
            <a:cxnLst/>
            <a:rect r="r" b="b" t="t" l="l"/>
            <a:pathLst>
              <a:path h="1520426" w="2796186">
                <a:moveTo>
                  <a:pt x="0" y="0"/>
                </a:moveTo>
                <a:lnTo>
                  <a:pt x="2796186" y="0"/>
                </a:lnTo>
                <a:lnTo>
                  <a:pt x="2796186" y="1520426"/>
                </a:lnTo>
                <a:lnTo>
                  <a:pt x="0" y="1520426"/>
                </a:lnTo>
                <a:lnTo>
                  <a:pt x="0" y="0"/>
                </a:lnTo>
                <a:close/>
              </a:path>
            </a:pathLst>
          </a:custGeom>
          <a:blipFill>
            <a:blip r:embed="rId3"/>
            <a:stretch>
              <a:fillRect l="0" t="0" r="0" b="0"/>
            </a:stretch>
          </a:blipFill>
        </p:spPr>
      </p:sp>
      <p:grpSp>
        <p:nvGrpSpPr>
          <p:cNvPr name="Group 12" id="12"/>
          <p:cNvGrpSpPr/>
          <p:nvPr/>
        </p:nvGrpSpPr>
        <p:grpSpPr>
          <a:xfrm rot="0">
            <a:off x="1391102" y="7504795"/>
            <a:ext cx="1384359" cy="2782205"/>
            <a:chOff x="0" y="0"/>
            <a:chExt cx="468289" cy="941141"/>
          </a:xfrm>
        </p:grpSpPr>
        <p:sp>
          <p:nvSpPr>
            <p:cNvPr name="Freeform 13" id="13"/>
            <p:cNvSpPr/>
            <p:nvPr/>
          </p:nvSpPr>
          <p:spPr>
            <a:xfrm flipH="false" flipV="false" rot="0">
              <a:off x="0" y="0"/>
              <a:ext cx="468289" cy="941141"/>
            </a:xfrm>
            <a:custGeom>
              <a:avLst/>
              <a:gdLst/>
              <a:ahLst/>
              <a:cxnLst/>
              <a:rect r="r" b="b" t="t" l="l"/>
              <a:pathLst>
                <a:path h="941141" w="468289">
                  <a:moveTo>
                    <a:pt x="0" y="0"/>
                  </a:moveTo>
                  <a:lnTo>
                    <a:pt x="468289" y="0"/>
                  </a:lnTo>
                  <a:lnTo>
                    <a:pt x="468289" y="941141"/>
                  </a:lnTo>
                  <a:lnTo>
                    <a:pt x="0" y="941141"/>
                  </a:lnTo>
                  <a:close/>
                </a:path>
              </a:pathLst>
            </a:custGeom>
            <a:solidFill>
              <a:srgbClr val="F17318"/>
            </a:solidFill>
          </p:spPr>
        </p:sp>
      </p:grpSp>
      <p:grpSp>
        <p:nvGrpSpPr>
          <p:cNvPr name="Group 14" id="14"/>
          <p:cNvGrpSpPr/>
          <p:nvPr/>
        </p:nvGrpSpPr>
        <p:grpSpPr>
          <a:xfrm rot="0">
            <a:off x="1976010" y="2093028"/>
            <a:ext cx="6218200" cy="1374892"/>
            <a:chOff x="0" y="0"/>
            <a:chExt cx="8290934" cy="1833190"/>
          </a:xfrm>
        </p:grpSpPr>
        <p:sp>
          <p:nvSpPr>
            <p:cNvPr name="TextBox 15" id="15"/>
            <p:cNvSpPr txBox="true"/>
            <p:nvPr/>
          </p:nvSpPr>
          <p:spPr>
            <a:xfrm rot="0">
              <a:off x="0" y="-57150"/>
              <a:ext cx="8290934" cy="1332934"/>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Electrónica</a:t>
              </a:r>
            </a:p>
          </p:txBody>
        </p:sp>
        <p:sp>
          <p:nvSpPr>
            <p:cNvPr name="TextBox 16" id="16"/>
            <p:cNvSpPr txBox="true"/>
            <p:nvPr/>
          </p:nvSpPr>
          <p:spPr>
            <a:xfrm rot="0">
              <a:off x="0" y="1398123"/>
              <a:ext cx="8290934"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APLICACIONES DE BOBINAS EN CIRCUITOS</a:t>
              </a:r>
            </a:p>
          </p:txBody>
        </p:sp>
      </p:grpSp>
      <p:grpSp>
        <p:nvGrpSpPr>
          <p:cNvPr name="Group 17" id="17"/>
          <p:cNvGrpSpPr/>
          <p:nvPr/>
        </p:nvGrpSpPr>
        <p:grpSpPr>
          <a:xfrm rot="0">
            <a:off x="9749369" y="2093028"/>
            <a:ext cx="6218200" cy="1686905"/>
            <a:chOff x="0" y="0"/>
            <a:chExt cx="8290934" cy="2249207"/>
          </a:xfrm>
        </p:grpSpPr>
        <p:sp>
          <p:nvSpPr>
            <p:cNvPr name="TextBox 18" id="18"/>
            <p:cNvSpPr txBox="true"/>
            <p:nvPr/>
          </p:nvSpPr>
          <p:spPr>
            <a:xfrm rot="0">
              <a:off x="0" y="-57150"/>
              <a:ext cx="8290934" cy="1332934"/>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Mecánica</a:t>
              </a:r>
            </a:p>
          </p:txBody>
        </p:sp>
        <p:sp>
          <p:nvSpPr>
            <p:cNvPr name="TextBox 19" id="19"/>
            <p:cNvSpPr txBox="true"/>
            <p:nvPr/>
          </p:nvSpPr>
          <p:spPr>
            <a:xfrm rot="0">
              <a:off x="0" y="1398123"/>
              <a:ext cx="8290934" cy="851083"/>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APLICACIONES DE BOBINAS EN SISTEMAS MECÁNICOS</a:t>
              </a:r>
            </a:p>
          </p:txBody>
        </p:sp>
      </p:grpSp>
      <p:grpSp>
        <p:nvGrpSpPr>
          <p:cNvPr name="Group 20" id="20"/>
          <p:cNvGrpSpPr/>
          <p:nvPr/>
        </p:nvGrpSpPr>
        <p:grpSpPr>
          <a:xfrm rot="0">
            <a:off x="5753224" y="813810"/>
            <a:ext cx="9511178" cy="214890"/>
            <a:chOff x="0" y="0"/>
            <a:chExt cx="25294954" cy="571500"/>
          </a:xfrm>
        </p:grpSpPr>
        <p:sp>
          <p:nvSpPr>
            <p:cNvPr name="Freeform 21" id="21"/>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22" id="22"/>
          <p:cNvSpPr txBox="true"/>
          <p:nvPr/>
        </p:nvSpPr>
        <p:spPr>
          <a:xfrm rot="0">
            <a:off x="15374896" y="804285"/>
            <a:ext cx="1884404" cy="175932"/>
          </a:xfrm>
          <a:prstGeom prst="rect">
            <a:avLst/>
          </a:prstGeom>
        </p:spPr>
        <p:txBody>
          <a:bodyPr anchor="t" rtlCol="false" tIns="0" lIns="0" bIns="0" rIns="0">
            <a:spAutoFit/>
          </a:bodyPr>
          <a:lstStyle/>
          <a:p>
            <a:pPr algn="r" marL="0" indent="0" lvl="0">
              <a:lnSpc>
                <a:spcPts val="1439"/>
              </a:lnSpc>
            </a:pPr>
            <a:r>
              <a:rPr lang="en-US" b="true" sz="1199" spc="83">
                <a:solidFill>
                  <a:srgbClr val="000000"/>
                </a:solidFill>
                <a:latin typeface="Poppins Medium"/>
                <a:ea typeface="Poppins Medium"/>
                <a:cs typeface="Poppins Medium"/>
                <a:sym typeface="Poppins Medium"/>
              </a:rPr>
              <a:t>PÁGINA 8 DE 20</a:t>
            </a:r>
          </a:p>
        </p:txBody>
      </p:sp>
      <p:sp>
        <p:nvSpPr>
          <p:cNvPr name="TextBox 23" id="23"/>
          <p:cNvSpPr txBox="true"/>
          <p:nvPr/>
        </p:nvSpPr>
        <p:spPr>
          <a:xfrm rot="0">
            <a:off x="1028700" y="804285"/>
            <a:ext cx="4724524" cy="175932"/>
          </a:xfrm>
          <a:prstGeom prst="rect">
            <a:avLst/>
          </a:prstGeom>
        </p:spPr>
        <p:txBody>
          <a:bodyPr anchor="t" rtlCol="false" tIns="0" lIns="0" bIns="0" rIns="0">
            <a:spAutoFit/>
          </a:bodyPr>
          <a:lstStyle/>
          <a:p>
            <a:pPr algn="l" marL="0" indent="0" lvl="0">
              <a:lnSpc>
                <a:spcPts val="1439"/>
              </a:lnSpc>
            </a:pPr>
            <a:r>
              <a:rPr lang="en-US" b="true" sz="1199" spc="83">
                <a:solidFill>
                  <a:srgbClr val="000000"/>
                </a:solidFill>
                <a:latin typeface="Poppins Medium"/>
                <a:ea typeface="Poppins Medium"/>
                <a:cs typeface="Poppins Medium"/>
                <a:sym typeface="Poppins Medium"/>
              </a:rPr>
              <a:t>LEY DE FARADAY Y BOBINAS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753224" y="9258300"/>
            <a:ext cx="9511178" cy="214890"/>
            <a:chOff x="0" y="0"/>
            <a:chExt cx="25294954" cy="571500"/>
          </a:xfrm>
        </p:grpSpPr>
        <p:sp>
          <p:nvSpPr>
            <p:cNvPr name="Freeform 3" id="3"/>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4" id="4"/>
          <p:cNvGrpSpPr/>
          <p:nvPr/>
        </p:nvGrpSpPr>
        <p:grpSpPr>
          <a:xfrm rot="0">
            <a:off x="997524" y="4501024"/>
            <a:ext cx="5338527" cy="3481133"/>
            <a:chOff x="0" y="0"/>
            <a:chExt cx="2223062" cy="1449609"/>
          </a:xfrm>
        </p:grpSpPr>
        <p:sp>
          <p:nvSpPr>
            <p:cNvPr name="Freeform 5" id="5"/>
            <p:cNvSpPr/>
            <p:nvPr/>
          </p:nvSpPr>
          <p:spPr>
            <a:xfrm flipH="false" flipV="false" rot="0">
              <a:off x="0" y="0"/>
              <a:ext cx="2223062" cy="1449609"/>
            </a:xfrm>
            <a:custGeom>
              <a:avLst/>
              <a:gdLst/>
              <a:ahLst/>
              <a:cxnLst/>
              <a:rect r="r" b="b" t="t" l="l"/>
              <a:pathLst>
                <a:path h="1449609" w="2223062">
                  <a:moveTo>
                    <a:pt x="0" y="0"/>
                  </a:moveTo>
                  <a:lnTo>
                    <a:pt x="2223062" y="0"/>
                  </a:lnTo>
                  <a:lnTo>
                    <a:pt x="2223062" y="1449609"/>
                  </a:lnTo>
                  <a:lnTo>
                    <a:pt x="0" y="1449609"/>
                  </a:lnTo>
                  <a:close/>
                </a:path>
              </a:pathLst>
            </a:custGeom>
            <a:solidFill>
              <a:srgbClr val="005CE6"/>
            </a:solidFill>
          </p:spPr>
        </p:sp>
      </p:grpSp>
      <p:grpSp>
        <p:nvGrpSpPr>
          <p:cNvPr name="Group 6" id="6"/>
          <p:cNvGrpSpPr/>
          <p:nvPr/>
        </p:nvGrpSpPr>
        <p:grpSpPr>
          <a:xfrm rot="0">
            <a:off x="6475926" y="4501024"/>
            <a:ext cx="5338527" cy="3481133"/>
            <a:chOff x="0" y="0"/>
            <a:chExt cx="2223062" cy="1449609"/>
          </a:xfrm>
        </p:grpSpPr>
        <p:sp>
          <p:nvSpPr>
            <p:cNvPr name="Freeform 7" id="7"/>
            <p:cNvSpPr/>
            <p:nvPr/>
          </p:nvSpPr>
          <p:spPr>
            <a:xfrm flipH="false" flipV="false" rot="0">
              <a:off x="0" y="0"/>
              <a:ext cx="2223062" cy="1449609"/>
            </a:xfrm>
            <a:custGeom>
              <a:avLst/>
              <a:gdLst/>
              <a:ahLst/>
              <a:cxnLst/>
              <a:rect r="r" b="b" t="t" l="l"/>
              <a:pathLst>
                <a:path h="1449609" w="2223062">
                  <a:moveTo>
                    <a:pt x="0" y="0"/>
                  </a:moveTo>
                  <a:lnTo>
                    <a:pt x="2223062" y="0"/>
                  </a:lnTo>
                  <a:lnTo>
                    <a:pt x="2223062" y="1449609"/>
                  </a:lnTo>
                  <a:lnTo>
                    <a:pt x="0" y="1449609"/>
                  </a:lnTo>
                  <a:close/>
                </a:path>
              </a:pathLst>
            </a:custGeom>
            <a:solidFill>
              <a:srgbClr val="1D7144"/>
            </a:solidFill>
          </p:spPr>
        </p:sp>
      </p:grpSp>
      <p:grpSp>
        <p:nvGrpSpPr>
          <p:cNvPr name="Group 8" id="8"/>
          <p:cNvGrpSpPr/>
          <p:nvPr/>
        </p:nvGrpSpPr>
        <p:grpSpPr>
          <a:xfrm rot="0">
            <a:off x="11951950" y="4501024"/>
            <a:ext cx="5338527" cy="3481133"/>
            <a:chOff x="0" y="0"/>
            <a:chExt cx="2223062" cy="1449609"/>
          </a:xfrm>
        </p:grpSpPr>
        <p:sp>
          <p:nvSpPr>
            <p:cNvPr name="Freeform 9" id="9"/>
            <p:cNvSpPr/>
            <p:nvPr/>
          </p:nvSpPr>
          <p:spPr>
            <a:xfrm flipH="false" flipV="false" rot="0">
              <a:off x="0" y="0"/>
              <a:ext cx="2223062" cy="1449609"/>
            </a:xfrm>
            <a:custGeom>
              <a:avLst/>
              <a:gdLst/>
              <a:ahLst/>
              <a:cxnLst/>
              <a:rect r="r" b="b" t="t" l="l"/>
              <a:pathLst>
                <a:path h="1449609" w="2223062">
                  <a:moveTo>
                    <a:pt x="0" y="0"/>
                  </a:moveTo>
                  <a:lnTo>
                    <a:pt x="2223062" y="0"/>
                  </a:lnTo>
                  <a:lnTo>
                    <a:pt x="2223062" y="1449609"/>
                  </a:lnTo>
                  <a:lnTo>
                    <a:pt x="0" y="1449609"/>
                  </a:lnTo>
                  <a:close/>
                </a:path>
              </a:pathLst>
            </a:custGeom>
            <a:solidFill>
              <a:srgbClr val="F17318"/>
            </a:solidFill>
          </p:spPr>
        </p:sp>
      </p:grpSp>
      <p:grpSp>
        <p:nvGrpSpPr>
          <p:cNvPr name="Group 10" id="10"/>
          <p:cNvGrpSpPr/>
          <p:nvPr/>
        </p:nvGrpSpPr>
        <p:grpSpPr>
          <a:xfrm rot="0">
            <a:off x="4791684" y="1417422"/>
            <a:ext cx="8704632" cy="2466514"/>
            <a:chOff x="0" y="0"/>
            <a:chExt cx="11606176" cy="3288686"/>
          </a:xfrm>
        </p:grpSpPr>
        <p:sp>
          <p:nvSpPr>
            <p:cNvPr name="TextBox 11" id="11"/>
            <p:cNvSpPr txBox="true"/>
            <p:nvPr/>
          </p:nvSpPr>
          <p:spPr>
            <a:xfrm rot="0">
              <a:off x="0" y="-66675"/>
              <a:ext cx="11606176" cy="2784650"/>
            </a:xfrm>
            <a:prstGeom prst="rect">
              <a:avLst/>
            </a:prstGeom>
          </p:spPr>
          <p:txBody>
            <a:bodyPr anchor="t" rtlCol="false" tIns="0" lIns="0" bIns="0" rIns="0">
              <a:spAutoFit/>
            </a:bodyPr>
            <a:lstStyle/>
            <a:p>
              <a:pPr algn="ctr" marL="0" indent="0" lvl="0">
                <a:lnSpc>
                  <a:spcPts val="8035"/>
                </a:lnSpc>
              </a:pPr>
              <a:r>
                <a:rPr lang="en-US" b="true" sz="6696">
                  <a:solidFill>
                    <a:srgbClr val="000000"/>
                  </a:solidFill>
                  <a:latin typeface="Poppins Medium"/>
                  <a:ea typeface="Poppins Medium"/>
                  <a:cs typeface="Poppins Medium"/>
                  <a:sym typeface="Poppins Medium"/>
                </a:rPr>
                <a:t>Aplicaciones de las Bobinas</a:t>
              </a:r>
            </a:p>
          </p:txBody>
        </p:sp>
        <p:sp>
          <p:nvSpPr>
            <p:cNvPr name="TextBox 12" id="12"/>
            <p:cNvSpPr txBox="true"/>
            <p:nvPr/>
          </p:nvSpPr>
          <p:spPr>
            <a:xfrm rot="0">
              <a:off x="0" y="2853619"/>
              <a:ext cx="11606176" cy="435067"/>
            </a:xfrm>
            <a:prstGeom prst="rect">
              <a:avLst/>
            </a:prstGeom>
          </p:spPr>
          <p:txBody>
            <a:bodyPr anchor="t" rtlCol="false" tIns="0" lIns="0" bIns="0" rIns="0">
              <a:spAutoFit/>
            </a:bodyPr>
            <a:lstStyle/>
            <a:p>
              <a:pPr algn="ctr" marL="0" indent="0" lvl="0">
                <a:lnSpc>
                  <a:spcPts val="2465"/>
                </a:lnSpc>
              </a:pPr>
              <a:r>
                <a:rPr lang="en-US" b="true" sz="2054" spc="51">
                  <a:solidFill>
                    <a:srgbClr val="000000"/>
                  </a:solidFill>
                  <a:latin typeface="Poppins Medium"/>
                  <a:ea typeface="Poppins Medium"/>
                  <a:cs typeface="Poppins Medium"/>
                  <a:sym typeface="Poppins Medium"/>
                </a:rPr>
                <a:t>TRES CAMPOS PRINCIPALES DONDE LAS BOBINAS SON ESENCIALES</a:t>
              </a:r>
            </a:p>
          </p:txBody>
        </p:sp>
      </p:grpSp>
      <p:sp>
        <p:nvSpPr>
          <p:cNvPr name="TextBox 13" id="13"/>
          <p:cNvSpPr txBox="true"/>
          <p:nvPr/>
        </p:nvSpPr>
        <p:spPr>
          <a:xfrm rot="0">
            <a:off x="1572876" y="4998525"/>
            <a:ext cx="4149172" cy="2467081"/>
          </a:xfrm>
          <a:prstGeom prst="rect">
            <a:avLst/>
          </a:prstGeom>
        </p:spPr>
        <p:txBody>
          <a:bodyPr anchor="t" rtlCol="false" tIns="0" lIns="0" bIns="0" rIns="0">
            <a:spAutoFit/>
          </a:bodyPr>
          <a:lstStyle/>
          <a:p>
            <a:pPr algn="l" marL="0" indent="0" lvl="0">
              <a:lnSpc>
                <a:spcPts val="2791"/>
              </a:lnSpc>
            </a:pPr>
            <a:r>
              <a:rPr lang="en-US" sz="2147" spc="21">
                <a:solidFill>
                  <a:srgbClr val="F5F5EF"/>
                </a:solidFill>
                <a:latin typeface="HK Grotesk"/>
                <a:ea typeface="HK Grotesk"/>
                <a:cs typeface="HK Grotesk"/>
                <a:sym typeface="HK Grotesk"/>
              </a:rPr>
              <a:t>TRANSFORMADORES</a:t>
            </a:r>
          </a:p>
          <a:p>
            <a:pPr algn="l" marL="0" indent="0" lvl="0">
              <a:lnSpc>
                <a:spcPts val="2791"/>
              </a:lnSpc>
            </a:pPr>
            <a:r>
              <a:rPr lang="en-US" sz="2147" spc="21">
                <a:solidFill>
                  <a:srgbClr val="F5F5EF"/>
                </a:solidFill>
                <a:latin typeface="HK Grotesk"/>
                <a:ea typeface="HK Grotesk"/>
                <a:cs typeface="HK Grotesk"/>
                <a:sym typeface="HK Grotesk"/>
              </a:rPr>
              <a:t>Las bobinas son el corazón de los transformadores, permitiendo aumentar o reducir el voltaje mediante inducción electromagnética. Esenciales en la distribución de energía eléctrica.</a:t>
            </a:r>
          </a:p>
        </p:txBody>
      </p:sp>
      <p:sp>
        <p:nvSpPr>
          <p:cNvPr name="TextBox 14" id="14"/>
          <p:cNvSpPr txBox="true"/>
          <p:nvPr/>
        </p:nvSpPr>
        <p:spPr>
          <a:xfrm rot="0">
            <a:off x="7051278" y="4998525"/>
            <a:ext cx="4149172" cy="2467081"/>
          </a:xfrm>
          <a:prstGeom prst="rect">
            <a:avLst/>
          </a:prstGeom>
        </p:spPr>
        <p:txBody>
          <a:bodyPr anchor="t" rtlCol="false" tIns="0" lIns="0" bIns="0" rIns="0">
            <a:spAutoFit/>
          </a:bodyPr>
          <a:lstStyle/>
          <a:p>
            <a:pPr algn="l" marL="0" indent="0" lvl="0">
              <a:lnSpc>
                <a:spcPts val="2791"/>
              </a:lnSpc>
            </a:pPr>
            <a:r>
              <a:rPr lang="en-US" sz="2147" spc="21">
                <a:solidFill>
                  <a:srgbClr val="F5F5EF"/>
                </a:solidFill>
                <a:latin typeface="HK Grotesk"/>
                <a:ea typeface="HK Grotesk"/>
                <a:cs typeface="HK Grotesk"/>
                <a:sym typeface="HK Grotesk"/>
              </a:rPr>
              <a:t>MOTORES ELÉCTRICOS</a:t>
            </a:r>
          </a:p>
          <a:p>
            <a:pPr algn="l" marL="0" indent="0" lvl="0">
              <a:lnSpc>
                <a:spcPts val="2791"/>
              </a:lnSpc>
            </a:pPr>
            <a:r>
              <a:rPr lang="en-US" sz="2147" spc="21">
                <a:solidFill>
                  <a:srgbClr val="F5F5EF"/>
                </a:solidFill>
                <a:latin typeface="HK Grotesk"/>
                <a:ea typeface="HK Grotesk"/>
                <a:cs typeface="HK Grotesk"/>
                <a:sym typeface="HK Grotesk"/>
              </a:rPr>
              <a:t>Las bobinas generan campos magnéticos rotativos que convierten energía eléctrica en movimiento mecánico. Fundamentales en la industria y electrodomésticos.</a:t>
            </a:r>
          </a:p>
        </p:txBody>
      </p:sp>
      <p:sp>
        <p:nvSpPr>
          <p:cNvPr name="TextBox 15" id="15"/>
          <p:cNvSpPr txBox="true"/>
          <p:nvPr/>
        </p:nvSpPr>
        <p:spPr>
          <a:xfrm rot="0">
            <a:off x="12527302" y="5175332"/>
            <a:ext cx="4149172" cy="2113467"/>
          </a:xfrm>
          <a:prstGeom prst="rect">
            <a:avLst/>
          </a:prstGeom>
        </p:spPr>
        <p:txBody>
          <a:bodyPr anchor="t" rtlCol="false" tIns="0" lIns="0" bIns="0" rIns="0">
            <a:spAutoFit/>
          </a:bodyPr>
          <a:lstStyle/>
          <a:p>
            <a:pPr algn="l" marL="0" indent="0" lvl="0">
              <a:lnSpc>
                <a:spcPts val="2791"/>
              </a:lnSpc>
            </a:pPr>
            <a:r>
              <a:rPr lang="en-US" sz="2147" spc="21">
                <a:solidFill>
                  <a:srgbClr val="F5F5EF"/>
                </a:solidFill>
                <a:latin typeface="HK Grotesk"/>
                <a:ea typeface="HK Grotesk"/>
                <a:cs typeface="HK Grotesk"/>
                <a:sym typeface="HK Grotesk"/>
              </a:rPr>
              <a:t>SENSORES INDUCTIVOS</a:t>
            </a:r>
          </a:p>
          <a:p>
            <a:pPr algn="l" marL="0" indent="0" lvl="0">
              <a:lnSpc>
                <a:spcPts val="2791"/>
              </a:lnSpc>
            </a:pPr>
            <a:r>
              <a:rPr lang="en-US" sz="2147" spc="21">
                <a:solidFill>
                  <a:srgbClr val="F5F5EF"/>
                </a:solidFill>
                <a:latin typeface="HK Grotesk"/>
                <a:ea typeface="HK Grotesk"/>
                <a:cs typeface="HK Grotesk"/>
                <a:sym typeface="HK Grotesk"/>
              </a:rPr>
              <a:t>Detectan objetos metálicos sin contacto físico mediante cambios en el campo magnético de la bobina. Ampliamente usados en automatización industrial.</a:t>
            </a:r>
          </a:p>
        </p:txBody>
      </p:sp>
      <p:sp>
        <p:nvSpPr>
          <p:cNvPr name="TextBox 16" id="16"/>
          <p:cNvSpPr txBox="true"/>
          <p:nvPr/>
        </p:nvSpPr>
        <p:spPr>
          <a:xfrm rot="0">
            <a:off x="15374896" y="9269576"/>
            <a:ext cx="1884404" cy="196732"/>
          </a:xfrm>
          <a:prstGeom prst="rect">
            <a:avLst/>
          </a:prstGeom>
        </p:spPr>
        <p:txBody>
          <a:bodyPr anchor="t" rtlCol="false" tIns="0" lIns="0" bIns="0" rIns="0">
            <a:spAutoFit/>
          </a:bodyPr>
          <a:lstStyle/>
          <a:p>
            <a:pPr algn="r" marL="0" indent="0" lvl="0">
              <a:lnSpc>
                <a:spcPts val="1502"/>
              </a:lnSpc>
            </a:pPr>
            <a:r>
              <a:rPr lang="en-US" b="true" sz="1252" spc="87">
                <a:solidFill>
                  <a:srgbClr val="000000"/>
                </a:solidFill>
                <a:latin typeface="Poppins Medium"/>
                <a:ea typeface="Poppins Medium"/>
                <a:cs typeface="Poppins Medium"/>
                <a:sym typeface="Poppins Medium"/>
              </a:rPr>
              <a:t>PÁGINA 9 DE 20</a:t>
            </a:r>
          </a:p>
        </p:txBody>
      </p:sp>
      <p:sp>
        <p:nvSpPr>
          <p:cNvPr name="TextBox 17" id="17"/>
          <p:cNvSpPr txBox="true"/>
          <p:nvPr/>
        </p:nvSpPr>
        <p:spPr>
          <a:xfrm rot="0">
            <a:off x="1028700" y="9269576"/>
            <a:ext cx="4724524" cy="196732"/>
          </a:xfrm>
          <a:prstGeom prst="rect">
            <a:avLst/>
          </a:prstGeom>
        </p:spPr>
        <p:txBody>
          <a:bodyPr anchor="t" rtlCol="false" tIns="0" lIns="0" bIns="0" rIns="0">
            <a:spAutoFit/>
          </a:bodyPr>
          <a:lstStyle/>
          <a:p>
            <a:pPr algn="l" marL="0" indent="0" lvl="0">
              <a:lnSpc>
                <a:spcPts val="1502"/>
              </a:lnSpc>
            </a:pPr>
            <a:r>
              <a:rPr lang="en-US" b="true" sz="1252" spc="87">
                <a:solidFill>
                  <a:srgbClr val="000000"/>
                </a:solidFill>
                <a:latin typeface="Poppins Medium"/>
                <a:ea typeface="Poppins Medium"/>
                <a:cs typeface="Poppins Medium"/>
                <a:sym typeface="Poppins Medium"/>
              </a:rPr>
              <a:t>FUENTE: CHAPMAN, S. MÁQUINAS ELÉCTRICAS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762258" y="2123269"/>
            <a:ext cx="7381742" cy="5160408"/>
            <a:chOff x="0" y="0"/>
            <a:chExt cx="9842323" cy="6880545"/>
          </a:xfrm>
        </p:grpSpPr>
        <p:sp>
          <p:nvSpPr>
            <p:cNvPr name="TextBox 3" id="3"/>
            <p:cNvSpPr txBox="true"/>
            <p:nvPr/>
          </p:nvSpPr>
          <p:spPr>
            <a:xfrm rot="0">
              <a:off x="0" y="-57150"/>
              <a:ext cx="9842323" cy="2608719"/>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Construcción de Bobinas</a:t>
              </a:r>
            </a:p>
          </p:txBody>
        </p:sp>
        <p:sp>
          <p:nvSpPr>
            <p:cNvPr name="TextBox 4" id="4"/>
            <p:cNvSpPr txBox="true"/>
            <p:nvPr/>
          </p:nvSpPr>
          <p:spPr>
            <a:xfrm rot="0">
              <a:off x="0" y="2931183"/>
              <a:ext cx="9379732"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COMPONENTES Y MATERIALES ESENCIALES</a:t>
              </a:r>
            </a:p>
          </p:txBody>
        </p:sp>
        <p:sp>
          <p:nvSpPr>
            <p:cNvPr name="TextBox 5" id="5"/>
            <p:cNvSpPr txBox="true"/>
            <p:nvPr/>
          </p:nvSpPr>
          <p:spPr>
            <a:xfrm rot="0">
              <a:off x="0" y="4162607"/>
              <a:ext cx="9842323" cy="2717938"/>
            </a:xfrm>
            <a:prstGeom prst="rect">
              <a:avLst/>
            </a:prstGeom>
          </p:spPr>
          <p:txBody>
            <a:bodyPr anchor="t" rtlCol="false" tIns="0" lIns="0" bIns="0" rIns="0">
              <a:spAutoFit/>
            </a:bodyPr>
            <a:lstStyle/>
            <a:p>
              <a:pPr algn="l" marL="0" indent="0" lvl="0">
                <a:lnSpc>
                  <a:spcPts val="2367"/>
                </a:lnSpc>
              </a:pPr>
              <a:r>
                <a:rPr lang="en-US" sz="1878" spc="18">
                  <a:solidFill>
                    <a:srgbClr val="000000"/>
                  </a:solidFill>
                  <a:latin typeface="HK Grotesk Light"/>
                  <a:ea typeface="HK Grotesk Light"/>
                  <a:cs typeface="HK Grotesk Light"/>
                  <a:sym typeface="HK Grotesk Light"/>
                </a:rPr>
                <a:t>Una bobina se construye enrollando un conductor (generalmente alambre de cobre esmaltado) alrededor de un núcleo. Los componentes principales son: el núcleo (puede ser de aire o material ferromagnético), las espiras (vueltas del conductor) y el aislamiento. Los materiales ferromagnéticos como hierro, ferrita o acero laminado aumentan significativamente la inductancia al concentrar el campo magnético.</a:t>
              </a:r>
            </a:p>
          </p:txBody>
        </p:sp>
      </p:grpSp>
      <p:grpSp>
        <p:nvGrpSpPr>
          <p:cNvPr name="Group 6" id="6"/>
          <p:cNvGrpSpPr/>
          <p:nvPr/>
        </p:nvGrpSpPr>
        <p:grpSpPr>
          <a:xfrm rot="0">
            <a:off x="11002570" y="2901855"/>
            <a:ext cx="5657850" cy="5657850"/>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D7144"/>
            </a:solidFill>
          </p:spPr>
        </p:sp>
      </p:grpSp>
      <p:grpSp>
        <p:nvGrpSpPr>
          <p:cNvPr name="Group 8" id="8"/>
          <p:cNvGrpSpPr/>
          <p:nvPr/>
        </p:nvGrpSpPr>
        <p:grpSpPr>
          <a:xfrm rot="0">
            <a:off x="12552162" y="4451447"/>
            <a:ext cx="2558667" cy="2558667"/>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6DD94"/>
            </a:solidFill>
          </p:spPr>
        </p:sp>
      </p:grpSp>
      <p:sp>
        <p:nvSpPr>
          <p:cNvPr name="Freeform 10" id="10"/>
          <p:cNvSpPr/>
          <p:nvPr/>
        </p:nvSpPr>
        <p:spPr>
          <a:xfrm flipH="false" flipV="false" rot="0">
            <a:off x="10122996" y="-2087923"/>
            <a:ext cx="5813730" cy="5825334"/>
          </a:xfrm>
          <a:custGeom>
            <a:avLst/>
            <a:gdLst/>
            <a:ahLst/>
            <a:cxnLst/>
            <a:rect r="r" b="b" t="t" l="l"/>
            <a:pathLst>
              <a:path h="5825334" w="5813730">
                <a:moveTo>
                  <a:pt x="0" y="0"/>
                </a:moveTo>
                <a:lnTo>
                  <a:pt x="5813730" y="0"/>
                </a:lnTo>
                <a:lnTo>
                  <a:pt x="5813730" y="5825333"/>
                </a:lnTo>
                <a:lnTo>
                  <a:pt x="0" y="5825333"/>
                </a:lnTo>
                <a:lnTo>
                  <a:pt x="0" y="0"/>
                </a:lnTo>
                <a:close/>
              </a:path>
            </a:pathLst>
          </a:custGeom>
          <a:blipFill>
            <a:blip r:embed="rId2"/>
            <a:stretch>
              <a:fillRect l="0" t="0" r="0" b="0"/>
            </a:stretch>
          </a:blipFill>
        </p:spPr>
      </p:sp>
      <p:grpSp>
        <p:nvGrpSpPr>
          <p:cNvPr name="Group 11" id="11"/>
          <p:cNvGrpSpPr/>
          <p:nvPr/>
        </p:nvGrpSpPr>
        <p:grpSpPr>
          <a:xfrm rot="0">
            <a:off x="5753224" y="9258300"/>
            <a:ext cx="9511178" cy="214890"/>
            <a:chOff x="0" y="0"/>
            <a:chExt cx="25294954" cy="571500"/>
          </a:xfrm>
        </p:grpSpPr>
        <p:sp>
          <p:nvSpPr>
            <p:cNvPr name="Freeform 12" id="12"/>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13" id="13"/>
          <p:cNvSpPr txBox="true"/>
          <p:nvPr/>
        </p:nvSpPr>
        <p:spPr>
          <a:xfrm rot="0">
            <a:off x="15374896" y="9082368"/>
            <a:ext cx="1884404" cy="383940"/>
          </a:xfrm>
          <a:prstGeom prst="rect">
            <a:avLst/>
          </a:prstGeom>
        </p:spPr>
        <p:txBody>
          <a:bodyPr anchor="t" rtlCol="false" tIns="0" lIns="0" bIns="0" rIns="0">
            <a:spAutoFit/>
          </a:bodyPr>
          <a:lstStyle/>
          <a:p>
            <a:pPr algn="r" marL="0" indent="0" lvl="0">
              <a:lnSpc>
                <a:spcPts val="1502"/>
              </a:lnSpc>
            </a:pPr>
            <a:r>
              <a:rPr lang="en-US" b="true" sz="1252" spc="87">
                <a:solidFill>
                  <a:srgbClr val="000000"/>
                </a:solidFill>
                <a:latin typeface="Poppins Medium"/>
                <a:ea typeface="Poppins Medium"/>
                <a:cs typeface="Poppins Medium"/>
                <a:sym typeface="Poppins Medium"/>
              </a:rPr>
              <a:t>Fuente: Fitzgerald, A. Máquinas Eléctricas</a:t>
            </a:r>
          </a:p>
        </p:txBody>
      </p:sp>
      <p:sp>
        <p:nvSpPr>
          <p:cNvPr name="TextBox 14" id="14"/>
          <p:cNvSpPr txBox="true"/>
          <p:nvPr/>
        </p:nvSpPr>
        <p:spPr>
          <a:xfrm rot="0">
            <a:off x="1028700" y="9269576"/>
            <a:ext cx="4724524" cy="196732"/>
          </a:xfrm>
          <a:prstGeom prst="rect">
            <a:avLst/>
          </a:prstGeom>
        </p:spPr>
        <p:txBody>
          <a:bodyPr anchor="t" rtlCol="false" tIns="0" lIns="0" bIns="0" rIns="0">
            <a:spAutoFit/>
          </a:bodyPr>
          <a:lstStyle/>
          <a:p>
            <a:pPr algn="l" marL="0" indent="0" lvl="0">
              <a:lnSpc>
                <a:spcPts val="1502"/>
              </a:lnSpc>
            </a:pPr>
            <a:r>
              <a:rPr lang="en-US" b="true" sz="1252" spc="87">
                <a:solidFill>
                  <a:srgbClr val="000000"/>
                </a:solidFill>
                <a:latin typeface="Poppins Medium"/>
                <a:ea typeface="Poppins Medium"/>
                <a:cs typeface="Poppins Medium"/>
                <a:sym typeface="Poppins Medium"/>
              </a:rPr>
              <a:t>LEY DE FARADAY Y BOBINAS EN ELECTRÓNICA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683008" y="0"/>
            <a:ext cx="12604992" cy="10287000"/>
            <a:chOff x="0" y="0"/>
            <a:chExt cx="16806656" cy="13716000"/>
          </a:xfrm>
        </p:grpSpPr>
        <p:pic>
          <p:nvPicPr>
            <p:cNvPr name="Picture 3" id="3"/>
            <p:cNvPicPr>
              <a:picLocks noChangeAspect="true"/>
            </p:cNvPicPr>
            <p:nvPr/>
          </p:nvPicPr>
          <p:blipFill>
            <a:blip r:embed="rId2"/>
            <a:srcRect l="0" t="3127" r="0" b="3127"/>
            <a:stretch>
              <a:fillRect/>
            </a:stretch>
          </p:blipFill>
          <p:spPr>
            <a:xfrm flipH="false" flipV="false">
              <a:off x="0" y="0"/>
              <a:ext cx="8339828" cy="13716000"/>
            </a:xfrm>
            <a:prstGeom prst="rect">
              <a:avLst/>
            </a:prstGeom>
          </p:spPr>
        </p:pic>
        <p:pic>
          <p:nvPicPr>
            <p:cNvPr name="Picture 4" id="4"/>
            <p:cNvPicPr>
              <a:picLocks noChangeAspect="true"/>
            </p:cNvPicPr>
            <p:nvPr/>
          </p:nvPicPr>
          <p:blipFill>
            <a:blip r:embed="rId3"/>
            <a:srcRect l="365" t="0" r="365" b="0"/>
            <a:stretch>
              <a:fillRect/>
            </a:stretch>
          </p:blipFill>
          <p:spPr>
            <a:xfrm flipH="false" flipV="false">
              <a:off x="8466828" y="0"/>
              <a:ext cx="8339828" cy="6794500"/>
            </a:xfrm>
            <a:prstGeom prst="rect">
              <a:avLst/>
            </a:prstGeom>
          </p:spPr>
        </p:pic>
        <p:pic>
          <p:nvPicPr>
            <p:cNvPr name="Picture 5" id="5"/>
            <p:cNvPicPr>
              <a:picLocks noChangeAspect="true"/>
            </p:cNvPicPr>
            <p:nvPr/>
          </p:nvPicPr>
          <p:blipFill>
            <a:blip r:embed="rId4"/>
            <a:srcRect l="365" t="0" r="365" b="0"/>
            <a:stretch>
              <a:fillRect/>
            </a:stretch>
          </p:blipFill>
          <p:spPr>
            <a:xfrm flipH="false" flipV="false">
              <a:off x="8466828" y="6921500"/>
              <a:ext cx="8339828" cy="6794500"/>
            </a:xfrm>
            <a:prstGeom prst="rect">
              <a:avLst/>
            </a:prstGeom>
          </p:spPr>
        </p:pic>
      </p:grpSp>
      <p:sp>
        <p:nvSpPr>
          <p:cNvPr name="TextBox 6" id="6"/>
          <p:cNvSpPr txBox="true"/>
          <p:nvPr/>
        </p:nvSpPr>
        <p:spPr>
          <a:xfrm rot="0">
            <a:off x="1028700" y="1997327"/>
            <a:ext cx="3500240" cy="6716764"/>
          </a:xfrm>
          <a:prstGeom prst="rect">
            <a:avLst/>
          </a:prstGeom>
        </p:spPr>
        <p:txBody>
          <a:bodyPr anchor="t" rtlCol="false" tIns="0" lIns="0" bIns="0" rIns="0">
            <a:spAutoFit/>
          </a:bodyPr>
          <a:lstStyle/>
          <a:p>
            <a:pPr algn="l" marL="0" indent="0" lvl="0">
              <a:lnSpc>
                <a:spcPts val="3120"/>
              </a:lnSpc>
            </a:pPr>
            <a:r>
              <a:rPr lang="en-US" sz="2400" spc="24">
                <a:solidFill>
                  <a:srgbClr val="000000"/>
                </a:solidFill>
                <a:latin typeface="HK Grotesk Light"/>
                <a:ea typeface="HK Grotesk Light"/>
                <a:cs typeface="HK Grotesk Light"/>
                <a:sym typeface="HK Grotesk Light"/>
              </a:rPr>
              <a:t>Las bobinas son componentes fundamentales en electrónica y mecánica. Existen diversos tipos: toroidales (alta eficiencia, bajo ruido), solenoides (conversión electromagnética) y bobinas de motor (generación de campos magnéticos rotativos). Cada tipo tiene aplicaciones específicas según sus características.</a:t>
            </a:r>
          </a:p>
          <a:p>
            <a:pPr algn="l" marL="0" indent="0" lvl="0">
              <a:lnSpc>
                <a:spcPts val="3120"/>
              </a:lnSpc>
            </a:pPr>
            <a:r>
              <a:rPr lang="en-US" sz="2400" spc="24">
                <a:solidFill>
                  <a:srgbClr val="000000"/>
                </a:solidFill>
                <a:latin typeface="HK Grotesk Light"/>
                <a:ea typeface="HK Grotesk Light"/>
                <a:cs typeface="HK Grotesk Light"/>
                <a:sym typeface="HK Grotesk Light"/>
              </a:rPr>
              <a:t>Fuente: Malvino, A. Principios de Electrónica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8453749" cy="10287000"/>
            <a:chOff x="0" y="0"/>
            <a:chExt cx="2859663" cy="3479800"/>
          </a:xfrm>
        </p:grpSpPr>
        <p:sp>
          <p:nvSpPr>
            <p:cNvPr name="Freeform 3" id="3"/>
            <p:cNvSpPr/>
            <p:nvPr/>
          </p:nvSpPr>
          <p:spPr>
            <a:xfrm flipH="false" flipV="false" rot="0">
              <a:off x="0" y="0"/>
              <a:ext cx="2859663" cy="3479800"/>
            </a:xfrm>
            <a:custGeom>
              <a:avLst/>
              <a:gdLst/>
              <a:ahLst/>
              <a:cxnLst/>
              <a:rect r="r" b="b" t="t" l="l"/>
              <a:pathLst>
                <a:path h="3479800" w="2859663">
                  <a:moveTo>
                    <a:pt x="0" y="0"/>
                  </a:moveTo>
                  <a:lnTo>
                    <a:pt x="2859663" y="0"/>
                  </a:lnTo>
                  <a:lnTo>
                    <a:pt x="2859663" y="3479800"/>
                  </a:lnTo>
                  <a:lnTo>
                    <a:pt x="0" y="3479800"/>
                  </a:lnTo>
                  <a:close/>
                </a:path>
              </a:pathLst>
            </a:custGeom>
            <a:solidFill>
              <a:srgbClr val="005CE6"/>
            </a:solidFill>
          </p:spPr>
        </p:sp>
      </p:grpSp>
      <p:sp>
        <p:nvSpPr>
          <p:cNvPr name="Freeform 4" id="4"/>
          <p:cNvSpPr/>
          <p:nvPr/>
        </p:nvSpPr>
        <p:spPr>
          <a:xfrm flipH="false" flipV="false" rot="0">
            <a:off x="691545" y="3845253"/>
            <a:ext cx="3904742" cy="4204010"/>
          </a:xfrm>
          <a:custGeom>
            <a:avLst/>
            <a:gdLst/>
            <a:ahLst/>
            <a:cxnLst/>
            <a:rect r="r" b="b" t="t" l="l"/>
            <a:pathLst>
              <a:path h="4204010" w="3904742">
                <a:moveTo>
                  <a:pt x="0" y="0"/>
                </a:moveTo>
                <a:lnTo>
                  <a:pt x="3904742" y="0"/>
                </a:lnTo>
                <a:lnTo>
                  <a:pt x="3904742" y="4204010"/>
                </a:lnTo>
                <a:lnTo>
                  <a:pt x="0" y="4204010"/>
                </a:lnTo>
                <a:lnTo>
                  <a:pt x="0" y="0"/>
                </a:lnTo>
                <a:close/>
              </a:path>
            </a:pathLst>
          </a:custGeom>
          <a:blipFill>
            <a:blip r:embed="rId2"/>
            <a:stretch>
              <a:fillRect l="0" t="0" r="0" b="0"/>
            </a:stretch>
          </a:blipFill>
        </p:spPr>
      </p:sp>
      <p:grpSp>
        <p:nvGrpSpPr>
          <p:cNvPr name="Group 5" id="5"/>
          <p:cNvGrpSpPr/>
          <p:nvPr/>
        </p:nvGrpSpPr>
        <p:grpSpPr>
          <a:xfrm rot="-5400000">
            <a:off x="147076" y="431446"/>
            <a:ext cx="4934464" cy="4071571"/>
            <a:chOff x="0" y="0"/>
            <a:chExt cx="1669189" cy="1377297"/>
          </a:xfrm>
        </p:grpSpPr>
        <p:sp>
          <p:nvSpPr>
            <p:cNvPr name="Freeform 6" id="6"/>
            <p:cNvSpPr/>
            <p:nvPr/>
          </p:nvSpPr>
          <p:spPr>
            <a:xfrm flipH="false" flipV="false" rot="0">
              <a:off x="0" y="0"/>
              <a:ext cx="1669189" cy="1377297"/>
            </a:xfrm>
            <a:custGeom>
              <a:avLst/>
              <a:gdLst/>
              <a:ahLst/>
              <a:cxnLst/>
              <a:rect r="r" b="b" t="t" l="l"/>
              <a:pathLst>
                <a:path h="1377297" w="1669189">
                  <a:moveTo>
                    <a:pt x="0" y="0"/>
                  </a:moveTo>
                  <a:lnTo>
                    <a:pt x="1669189" y="0"/>
                  </a:lnTo>
                  <a:lnTo>
                    <a:pt x="1669189" y="1377297"/>
                  </a:lnTo>
                  <a:lnTo>
                    <a:pt x="0" y="1377297"/>
                  </a:lnTo>
                  <a:close/>
                </a:path>
              </a:pathLst>
            </a:custGeom>
            <a:solidFill>
              <a:srgbClr val="D610D4"/>
            </a:solidFill>
          </p:spPr>
        </p:sp>
      </p:grpSp>
      <p:grpSp>
        <p:nvGrpSpPr>
          <p:cNvPr name="Group 7" id="7"/>
          <p:cNvGrpSpPr/>
          <p:nvPr/>
        </p:nvGrpSpPr>
        <p:grpSpPr>
          <a:xfrm rot="0">
            <a:off x="10901153" y="2625571"/>
            <a:ext cx="5415945" cy="4617785"/>
            <a:chOff x="0" y="0"/>
            <a:chExt cx="7221260" cy="6157046"/>
          </a:xfrm>
        </p:grpSpPr>
        <p:sp>
          <p:nvSpPr>
            <p:cNvPr name="TextBox 8" id="8"/>
            <p:cNvSpPr txBox="true"/>
            <p:nvPr/>
          </p:nvSpPr>
          <p:spPr>
            <a:xfrm rot="0">
              <a:off x="0" y="-57150"/>
              <a:ext cx="7221260" cy="5160287"/>
            </a:xfrm>
            <a:prstGeom prst="rect">
              <a:avLst/>
            </a:prstGeom>
          </p:spPr>
          <p:txBody>
            <a:bodyPr anchor="t" rtlCol="false" tIns="0" lIns="0" bIns="0" rIns="0">
              <a:spAutoFit/>
            </a:bodyPr>
            <a:lstStyle/>
            <a:p>
              <a:pPr algn="l" marL="0" indent="0" lvl="0">
                <a:lnSpc>
                  <a:spcPts val="7680"/>
                </a:lnSpc>
                <a:spcBef>
                  <a:spcPct val="0"/>
                </a:spcBef>
              </a:pPr>
              <a:r>
                <a:rPr lang="en-US" b="true" sz="6400" u="none">
                  <a:solidFill>
                    <a:srgbClr val="000000"/>
                  </a:solidFill>
                  <a:latin typeface="Poppins Medium"/>
                  <a:ea typeface="Poppins Medium"/>
                  <a:cs typeface="Poppins Medium"/>
                  <a:sym typeface="Poppins Medium"/>
                </a:rPr>
                <a:t>Experimento del</a:t>
              </a:r>
            </a:p>
            <a:p>
              <a:pPr algn="l" marL="0" indent="0" lvl="0">
                <a:lnSpc>
                  <a:spcPts val="7680"/>
                </a:lnSpc>
                <a:spcBef>
                  <a:spcPct val="0"/>
                </a:spcBef>
              </a:pPr>
              <a:r>
                <a:rPr lang="en-US" b="true" sz="6400" u="none">
                  <a:solidFill>
                    <a:srgbClr val="000000"/>
                  </a:solidFill>
                  <a:latin typeface="Poppins Medium"/>
                  <a:ea typeface="Poppins Medium"/>
                  <a:cs typeface="Poppins Medium"/>
                  <a:sym typeface="Poppins Medium"/>
                </a:rPr>
                <a:t>Motor Casero</a:t>
              </a:r>
            </a:p>
          </p:txBody>
        </p:sp>
        <p:sp>
          <p:nvSpPr>
            <p:cNvPr name="TextBox 9" id="9"/>
            <p:cNvSpPr txBox="true"/>
            <p:nvPr/>
          </p:nvSpPr>
          <p:spPr>
            <a:xfrm rot="0">
              <a:off x="0" y="5397851"/>
              <a:ext cx="6803610" cy="759196"/>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SECCIÓN 3</a:t>
              </a:r>
            </a:p>
          </p:txBody>
        </p:sp>
      </p:grpSp>
      <p:grpSp>
        <p:nvGrpSpPr>
          <p:cNvPr name="Group 10" id="10"/>
          <p:cNvGrpSpPr/>
          <p:nvPr/>
        </p:nvGrpSpPr>
        <p:grpSpPr>
          <a:xfrm rot="0">
            <a:off x="4087173" y="5942831"/>
            <a:ext cx="4366576" cy="4366576"/>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7318"/>
            </a:solidFill>
          </p:spPr>
        </p:sp>
      </p:grpSp>
      <p:sp>
        <p:nvSpPr>
          <p:cNvPr name="TextBox 12" id="12"/>
          <p:cNvSpPr txBox="true"/>
          <p:nvPr/>
        </p:nvSpPr>
        <p:spPr>
          <a:xfrm rot="0">
            <a:off x="12534776" y="9031242"/>
            <a:ext cx="4724524" cy="435067"/>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FUENTE: HYPERPHYSICS - GEORGIA STATE UNIVERSITY</a:t>
            </a:r>
          </a:p>
        </p:txBody>
      </p:sp>
      <p:grpSp>
        <p:nvGrpSpPr>
          <p:cNvPr name="Group 13" id="13"/>
          <p:cNvGrpSpPr/>
          <p:nvPr/>
        </p:nvGrpSpPr>
        <p:grpSpPr>
          <a:xfrm rot="0">
            <a:off x="9466492" y="9258300"/>
            <a:ext cx="2926301" cy="214890"/>
            <a:chOff x="0" y="0"/>
            <a:chExt cx="7782490" cy="571500"/>
          </a:xfrm>
        </p:grpSpPr>
        <p:sp>
          <p:nvSpPr>
            <p:cNvPr name="Freeform 14" id="14"/>
            <p:cNvSpPr/>
            <p:nvPr/>
          </p:nvSpPr>
          <p:spPr>
            <a:xfrm flipH="false" flipV="false" rot="0">
              <a:off x="0" y="255270"/>
              <a:ext cx="7782490" cy="69850"/>
            </a:xfrm>
            <a:custGeom>
              <a:avLst/>
              <a:gdLst/>
              <a:ahLst/>
              <a:cxnLst/>
              <a:rect r="r" b="b" t="t" l="l"/>
              <a:pathLst>
                <a:path h="69850" w="7782490">
                  <a:moveTo>
                    <a:pt x="7491661" y="0"/>
                  </a:moveTo>
                  <a:lnTo>
                    <a:pt x="0" y="0"/>
                  </a:lnTo>
                  <a:lnTo>
                    <a:pt x="0" y="69850"/>
                  </a:lnTo>
                  <a:lnTo>
                    <a:pt x="7782490" y="69850"/>
                  </a:lnTo>
                  <a:lnTo>
                    <a:pt x="7782490" y="0"/>
                  </a:lnTo>
                  <a:close/>
                </a:path>
              </a:pathLst>
            </a:custGeom>
            <a:solidFill>
              <a:srgbClr val="000000"/>
            </a:solidFill>
          </p:spPr>
        </p:sp>
      </p:grpSp>
      <p:sp>
        <p:nvSpPr>
          <p:cNvPr name="TextBox 15" id="15"/>
          <p:cNvSpPr txBox="true"/>
          <p:nvPr/>
        </p:nvSpPr>
        <p:spPr>
          <a:xfrm rot="0">
            <a:off x="15374896" y="801642"/>
            <a:ext cx="1884404"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PÁGINA 12 DE 20</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5400000">
            <a:off x="-2785541" y="-1174232"/>
            <a:ext cx="10370142" cy="12635465"/>
            <a:chOff x="0" y="0"/>
            <a:chExt cx="2354580" cy="2868930"/>
          </a:xfrm>
        </p:grpSpPr>
        <p:sp>
          <p:nvSpPr>
            <p:cNvPr name="Freeform 3" id="3"/>
            <p:cNvSpPr/>
            <p:nvPr/>
          </p:nvSpPr>
          <p:spPr>
            <a:xfrm flipH="false" flipV="false" rot="0">
              <a:off x="0" y="0"/>
              <a:ext cx="2353310" cy="2868930"/>
            </a:xfrm>
            <a:custGeom>
              <a:avLst/>
              <a:gdLst/>
              <a:ahLst/>
              <a:cxnLst/>
              <a:rect r="r" b="b" t="t" l="l"/>
              <a:pathLst>
                <a:path h="2868930" w="2353310">
                  <a:moveTo>
                    <a:pt x="784860" y="2801620"/>
                  </a:moveTo>
                  <a:cubicBezTo>
                    <a:pt x="905510" y="2842260"/>
                    <a:pt x="1042670" y="2868930"/>
                    <a:pt x="1177290" y="2868930"/>
                  </a:cubicBezTo>
                  <a:cubicBezTo>
                    <a:pt x="1311910" y="2868930"/>
                    <a:pt x="1441450" y="2846070"/>
                    <a:pt x="1560830" y="2805430"/>
                  </a:cubicBezTo>
                  <a:cubicBezTo>
                    <a:pt x="1563370" y="2804160"/>
                    <a:pt x="1565910" y="2804160"/>
                    <a:pt x="1568450" y="2802890"/>
                  </a:cubicBezTo>
                  <a:cubicBezTo>
                    <a:pt x="2016760" y="2640330"/>
                    <a:pt x="2346960" y="2211070"/>
                    <a:pt x="2353310" y="1709420"/>
                  </a:cubicBezTo>
                  <a:lnTo>
                    <a:pt x="2353310" y="0"/>
                  </a:lnTo>
                  <a:lnTo>
                    <a:pt x="0" y="0"/>
                  </a:lnTo>
                  <a:lnTo>
                    <a:pt x="0" y="1708150"/>
                  </a:lnTo>
                  <a:cubicBezTo>
                    <a:pt x="6350" y="2213610"/>
                    <a:pt x="331470" y="2642870"/>
                    <a:pt x="784860" y="2801620"/>
                  </a:cubicBezTo>
                  <a:close/>
                </a:path>
              </a:pathLst>
            </a:custGeom>
            <a:solidFill>
              <a:srgbClr val="1D7144"/>
            </a:solidFill>
          </p:spPr>
        </p:sp>
      </p:grpSp>
      <p:grpSp>
        <p:nvGrpSpPr>
          <p:cNvPr name="Group 4" id="4"/>
          <p:cNvGrpSpPr/>
          <p:nvPr/>
        </p:nvGrpSpPr>
        <p:grpSpPr>
          <a:xfrm rot="0">
            <a:off x="5753224" y="9258300"/>
            <a:ext cx="9511178" cy="214890"/>
            <a:chOff x="0" y="0"/>
            <a:chExt cx="25294954" cy="571500"/>
          </a:xfrm>
        </p:grpSpPr>
        <p:sp>
          <p:nvSpPr>
            <p:cNvPr name="Freeform 5" id="5"/>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6" id="6"/>
          <p:cNvSpPr txBox="true"/>
          <p:nvPr/>
        </p:nvSpPr>
        <p:spPr>
          <a:xfrm rot="0">
            <a:off x="1536394" y="4129512"/>
            <a:ext cx="5859323" cy="1970827"/>
          </a:xfrm>
          <a:prstGeom prst="rect">
            <a:avLst/>
          </a:prstGeom>
        </p:spPr>
        <p:txBody>
          <a:bodyPr anchor="t" rtlCol="false" tIns="0" lIns="0" bIns="0" rIns="0">
            <a:spAutoFit/>
          </a:bodyPr>
          <a:lstStyle/>
          <a:p>
            <a:pPr algn="l" marL="0" indent="0" lvl="0">
              <a:lnSpc>
                <a:spcPts val="7674"/>
              </a:lnSpc>
            </a:pPr>
            <a:r>
              <a:rPr lang="en-US" b="true" sz="6395">
                <a:solidFill>
                  <a:srgbClr val="F5F5EF"/>
                </a:solidFill>
                <a:latin typeface="Poppins Medium"/>
                <a:ea typeface="Poppins Medium"/>
                <a:cs typeface="Poppins Medium"/>
                <a:sym typeface="Poppins Medium"/>
              </a:rPr>
              <a:t>Materiales del Experimento</a:t>
            </a:r>
          </a:p>
        </p:txBody>
      </p:sp>
      <p:grpSp>
        <p:nvGrpSpPr>
          <p:cNvPr name="Group 7" id="7"/>
          <p:cNvGrpSpPr/>
          <p:nvPr/>
        </p:nvGrpSpPr>
        <p:grpSpPr>
          <a:xfrm rot="0">
            <a:off x="10051606" y="1868873"/>
            <a:ext cx="6968876" cy="1468318"/>
            <a:chOff x="0" y="0"/>
            <a:chExt cx="9291835" cy="1957757"/>
          </a:xfrm>
        </p:grpSpPr>
        <p:sp>
          <p:nvSpPr>
            <p:cNvPr name="TextBox 8" id="8"/>
            <p:cNvSpPr txBox="true"/>
            <p:nvPr/>
          </p:nvSpPr>
          <p:spPr>
            <a:xfrm rot="0">
              <a:off x="0" y="44450"/>
              <a:ext cx="769759" cy="435067"/>
            </a:xfrm>
            <a:prstGeom prst="rect">
              <a:avLst/>
            </a:prstGeom>
          </p:spPr>
          <p:txBody>
            <a:bodyPr anchor="t" rtlCol="false" tIns="0" lIns="0" bIns="0" rIns="0">
              <a:spAutoFit/>
            </a:bodyPr>
            <a:lstStyle/>
            <a:p>
              <a:pPr algn="r" marL="0" indent="0" lvl="0">
                <a:lnSpc>
                  <a:spcPts val="2518"/>
                </a:lnSpc>
              </a:pPr>
              <a:r>
                <a:rPr lang="en-US" b="true" sz="2098" spc="52">
                  <a:solidFill>
                    <a:srgbClr val="000000"/>
                  </a:solidFill>
                  <a:latin typeface="Poppins Medium"/>
                  <a:ea typeface="Poppins Medium"/>
                  <a:cs typeface="Poppins Medium"/>
                  <a:sym typeface="Poppins Medium"/>
                </a:rPr>
                <a:t>01</a:t>
              </a:r>
            </a:p>
          </p:txBody>
        </p:sp>
        <p:sp>
          <p:nvSpPr>
            <p:cNvPr name="TextBox 9" id="9"/>
            <p:cNvSpPr txBox="true"/>
            <p:nvPr/>
          </p:nvSpPr>
          <p:spPr>
            <a:xfrm rot="0">
              <a:off x="1129813" y="-38100"/>
              <a:ext cx="8162022" cy="1995857"/>
            </a:xfrm>
            <a:prstGeom prst="rect">
              <a:avLst/>
            </a:prstGeom>
          </p:spPr>
          <p:txBody>
            <a:bodyPr anchor="t" rtlCol="false" tIns="0" lIns="0" bIns="0" rIns="0">
              <a:spAutoFit/>
            </a:bodyPr>
            <a:lstStyle/>
            <a:p>
              <a:pPr algn="l" marL="0" indent="0" lvl="0">
                <a:lnSpc>
                  <a:spcPts val="3003"/>
                </a:lnSpc>
              </a:pPr>
              <a:r>
                <a:rPr lang="en-US" sz="2310" spc="23">
                  <a:solidFill>
                    <a:srgbClr val="000000"/>
                  </a:solidFill>
                  <a:latin typeface="HK Grotesk Light"/>
                  <a:ea typeface="HK Grotesk Light"/>
                  <a:cs typeface="HK Grotesk Light"/>
                  <a:sym typeface="HK Grotesk Light"/>
                </a:rPr>
                <a:t>Pila de 9V: Fuente de energía portátil que proporciona la corriente eléctrica necesaria para generar el campo magnético en la bobina del motor.</a:t>
              </a:r>
            </a:p>
          </p:txBody>
        </p:sp>
      </p:grpSp>
      <p:grpSp>
        <p:nvGrpSpPr>
          <p:cNvPr name="Group 10" id="10"/>
          <p:cNvGrpSpPr/>
          <p:nvPr/>
        </p:nvGrpSpPr>
        <p:grpSpPr>
          <a:xfrm rot="0">
            <a:off x="10051606" y="4353970"/>
            <a:ext cx="6968876" cy="1468318"/>
            <a:chOff x="0" y="0"/>
            <a:chExt cx="9291835" cy="1957757"/>
          </a:xfrm>
        </p:grpSpPr>
        <p:sp>
          <p:nvSpPr>
            <p:cNvPr name="TextBox 11" id="11"/>
            <p:cNvSpPr txBox="true"/>
            <p:nvPr/>
          </p:nvSpPr>
          <p:spPr>
            <a:xfrm rot="0">
              <a:off x="0" y="44450"/>
              <a:ext cx="769759" cy="435067"/>
            </a:xfrm>
            <a:prstGeom prst="rect">
              <a:avLst/>
            </a:prstGeom>
          </p:spPr>
          <p:txBody>
            <a:bodyPr anchor="t" rtlCol="false" tIns="0" lIns="0" bIns="0" rIns="0">
              <a:spAutoFit/>
            </a:bodyPr>
            <a:lstStyle/>
            <a:p>
              <a:pPr algn="r" marL="0" indent="0" lvl="0">
                <a:lnSpc>
                  <a:spcPts val="2518"/>
                </a:lnSpc>
              </a:pPr>
              <a:r>
                <a:rPr lang="en-US" b="true" sz="2098" spc="52">
                  <a:solidFill>
                    <a:srgbClr val="000000"/>
                  </a:solidFill>
                  <a:latin typeface="Poppins Medium"/>
                  <a:ea typeface="Poppins Medium"/>
                  <a:cs typeface="Poppins Medium"/>
                  <a:sym typeface="Poppins Medium"/>
                </a:rPr>
                <a:t>02</a:t>
              </a:r>
            </a:p>
          </p:txBody>
        </p:sp>
        <p:sp>
          <p:nvSpPr>
            <p:cNvPr name="TextBox 12" id="12"/>
            <p:cNvSpPr txBox="true"/>
            <p:nvPr/>
          </p:nvSpPr>
          <p:spPr>
            <a:xfrm rot="0">
              <a:off x="1129813" y="-38100"/>
              <a:ext cx="8162022" cy="1995857"/>
            </a:xfrm>
            <a:prstGeom prst="rect">
              <a:avLst/>
            </a:prstGeom>
          </p:spPr>
          <p:txBody>
            <a:bodyPr anchor="t" rtlCol="false" tIns="0" lIns="0" bIns="0" rIns="0">
              <a:spAutoFit/>
            </a:bodyPr>
            <a:lstStyle/>
            <a:p>
              <a:pPr algn="l" marL="0" indent="0" lvl="0">
                <a:lnSpc>
                  <a:spcPts val="3003"/>
                </a:lnSpc>
              </a:pPr>
              <a:r>
                <a:rPr lang="en-US" sz="2310" spc="23">
                  <a:solidFill>
                    <a:srgbClr val="000000"/>
                  </a:solidFill>
                  <a:latin typeface="HK Grotesk Light"/>
                  <a:ea typeface="HK Grotesk Light"/>
                  <a:cs typeface="HK Grotesk Light"/>
                  <a:sym typeface="HK Grotesk Light"/>
                </a:rPr>
                <a:t>Alambre de cobre esmaltado: Conductor recubierto con una capa aislante que permite crear la bobina sin cortocircuitos entre las espiras adyacentes.</a:t>
              </a:r>
            </a:p>
          </p:txBody>
        </p:sp>
      </p:grpSp>
      <p:grpSp>
        <p:nvGrpSpPr>
          <p:cNvPr name="Group 13" id="13"/>
          <p:cNvGrpSpPr/>
          <p:nvPr/>
        </p:nvGrpSpPr>
        <p:grpSpPr>
          <a:xfrm rot="0">
            <a:off x="10051606" y="6867743"/>
            <a:ext cx="6968876" cy="1842733"/>
            <a:chOff x="0" y="0"/>
            <a:chExt cx="9291835" cy="2456977"/>
          </a:xfrm>
        </p:grpSpPr>
        <p:sp>
          <p:nvSpPr>
            <p:cNvPr name="TextBox 14" id="14"/>
            <p:cNvSpPr txBox="true"/>
            <p:nvPr/>
          </p:nvSpPr>
          <p:spPr>
            <a:xfrm rot="0">
              <a:off x="0" y="44450"/>
              <a:ext cx="769759" cy="435067"/>
            </a:xfrm>
            <a:prstGeom prst="rect">
              <a:avLst/>
            </a:prstGeom>
          </p:spPr>
          <p:txBody>
            <a:bodyPr anchor="t" rtlCol="false" tIns="0" lIns="0" bIns="0" rIns="0">
              <a:spAutoFit/>
            </a:bodyPr>
            <a:lstStyle/>
            <a:p>
              <a:pPr algn="r" marL="0" indent="0" lvl="0">
                <a:lnSpc>
                  <a:spcPts val="2518"/>
                </a:lnSpc>
              </a:pPr>
              <a:r>
                <a:rPr lang="en-US" b="true" sz="2098" spc="52">
                  <a:solidFill>
                    <a:srgbClr val="000000"/>
                  </a:solidFill>
                  <a:latin typeface="Poppins Medium"/>
                  <a:ea typeface="Poppins Medium"/>
                  <a:cs typeface="Poppins Medium"/>
                  <a:sym typeface="Poppins Medium"/>
                </a:rPr>
                <a:t>03</a:t>
              </a:r>
            </a:p>
          </p:txBody>
        </p:sp>
        <p:sp>
          <p:nvSpPr>
            <p:cNvPr name="TextBox 15" id="15"/>
            <p:cNvSpPr txBox="true"/>
            <p:nvPr/>
          </p:nvSpPr>
          <p:spPr>
            <a:xfrm rot="0">
              <a:off x="1129813" y="-38100"/>
              <a:ext cx="8162022" cy="2495077"/>
            </a:xfrm>
            <a:prstGeom prst="rect">
              <a:avLst/>
            </a:prstGeom>
          </p:spPr>
          <p:txBody>
            <a:bodyPr anchor="t" rtlCol="false" tIns="0" lIns="0" bIns="0" rIns="0">
              <a:spAutoFit/>
            </a:bodyPr>
            <a:lstStyle/>
            <a:p>
              <a:pPr algn="l" marL="0" indent="0" lvl="0">
                <a:lnSpc>
                  <a:spcPts val="3003"/>
                </a:lnSpc>
              </a:pPr>
              <a:r>
                <a:rPr lang="en-US" sz="2310" spc="23">
                  <a:solidFill>
                    <a:srgbClr val="000000"/>
                  </a:solidFill>
                  <a:latin typeface="HK Grotesk Light"/>
                  <a:ea typeface="HK Grotesk Light"/>
                  <a:cs typeface="HK Grotesk Light"/>
                  <a:sym typeface="HK Grotesk Light"/>
                </a:rPr>
                <a:t>Imán de neodimio: Imán permanente de alta potencia que genera el campo magnético externo necesario para interactuar con el campo de la bobina y producir el movimiento rotatorio.</a:t>
              </a:r>
            </a:p>
          </p:txBody>
        </p:sp>
      </p:grpSp>
      <p:sp>
        <p:nvSpPr>
          <p:cNvPr name="TextBox 16" id="16"/>
          <p:cNvSpPr txBox="true"/>
          <p:nvPr/>
        </p:nvSpPr>
        <p:spPr>
          <a:xfrm rot="0">
            <a:off x="15374896" y="9260051"/>
            <a:ext cx="1884404" cy="206257"/>
          </a:xfrm>
          <a:prstGeom prst="rect">
            <a:avLst/>
          </a:prstGeom>
        </p:spPr>
        <p:txBody>
          <a:bodyPr anchor="t" rtlCol="false" tIns="0" lIns="0" bIns="0" rIns="0">
            <a:spAutoFit/>
          </a:bodyPr>
          <a:lstStyle/>
          <a:p>
            <a:pPr algn="r" marL="0" indent="0" lvl="0">
              <a:lnSpc>
                <a:spcPts val="1617"/>
              </a:lnSpc>
            </a:pPr>
            <a:r>
              <a:rPr lang="en-US" b="true" sz="1347" spc="94">
                <a:solidFill>
                  <a:srgbClr val="000000"/>
                </a:solidFill>
                <a:latin typeface="Poppins Medium"/>
                <a:ea typeface="Poppins Medium"/>
                <a:cs typeface="Poppins Medium"/>
                <a:sym typeface="Poppins Medium"/>
              </a:rPr>
              <a:t>13/20</a:t>
            </a:r>
          </a:p>
        </p:txBody>
      </p:sp>
      <p:sp>
        <p:nvSpPr>
          <p:cNvPr name="TextBox 17" id="17"/>
          <p:cNvSpPr txBox="true"/>
          <p:nvPr/>
        </p:nvSpPr>
        <p:spPr>
          <a:xfrm rot="0">
            <a:off x="1028700" y="9260051"/>
            <a:ext cx="4724524" cy="206257"/>
          </a:xfrm>
          <a:prstGeom prst="rect">
            <a:avLst/>
          </a:prstGeom>
        </p:spPr>
        <p:txBody>
          <a:bodyPr anchor="t" rtlCol="false" tIns="0" lIns="0" bIns="0" rIns="0">
            <a:spAutoFit/>
          </a:bodyPr>
          <a:lstStyle/>
          <a:p>
            <a:pPr algn="l" marL="0" indent="0" lvl="0">
              <a:lnSpc>
                <a:spcPts val="1617"/>
              </a:lnSpc>
            </a:pPr>
            <a:r>
              <a:rPr lang="en-US" b="true" sz="1347" spc="94">
                <a:solidFill>
                  <a:srgbClr val="FFFFFF"/>
                </a:solidFill>
                <a:latin typeface="Poppins Medium"/>
                <a:ea typeface="Poppins Medium"/>
                <a:cs typeface="Poppins Medium"/>
                <a:sym typeface="Poppins Medium"/>
              </a:rPr>
              <a:t>FUENTE: EXPERIMENTOS DE FÍSICA, UNAM</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6371568" y="3671997"/>
            <a:ext cx="292794" cy="201986"/>
            <a:chOff x="0" y="0"/>
            <a:chExt cx="622246" cy="429260"/>
          </a:xfrm>
        </p:grpSpPr>
        <p:sp>
          <p:nvSpPr>
            <p:cNvPr name="Freeform 3" id="3"/>
            <p:cNvSpPr/>
            <p:nvPr/>
          </p:nvSpPr>
          <p:spPr>
            <a:xfrm flipH="false" flipV="false" rot="0">
              <a:off x="0" y="-148"/>
              <a:ext cx="622246" cy="429408"/>
            </a:xfrm>
            <a:custGeom>
              <a:avLst/>
              <a:gdLst/>
              <a:ahLst/>
              <a:cxnLst/>
              <a:rect r="r" b="b" t="t" l="l"/>
              <a:pathLst>
                <a:path h="429408" w="622246">
                  <a:moveTo>
                    <a:pt x="604466" y="183028"/>
                  </a:moveTo>
                  <a:lnTo>
                    <a:pt x="342846" y="6498"/>
                  </a:lnTo>
                  <a:cubicBezTo>
                    <a:pt x="325066" y="-4932"/>
                    <a:pt x="302206" y="-1122"/>
                    <a:pt x="289506" y="16658"/>
                  </a:cubicBezTo>
                  <a:cubicBezTo>
                    <a:pt x="278076" y="34438"/>
                    <a:pt x="281886" y="57298"/>
                    <a:pt x="299666" y="69998"/>
                  </a:cubicBezTo>
                  <a:lnTo>
                    <a:pt x="458416" y="176678"/>
                  </a:lnTo>
                  <a:lnTo>
                    <a:pt x="0" y="176678"/>
                  </a:lnTo>
                  <a:lnTo>
                    <a:pt x="0" y="252878"/>
                  </a:lnTo>
                  <a:lnTo>
                    <a:pt x="458416" y="252878"/>
                  </a:lnTo>
                  <a:lnTo>
                    <a:pt x="299666" y="359558"/>
                  </a:lnTo>
                  <a:cubicBezTo>
                    <a:pt x="281886" y="370988"/>
                    <a:pt x="278076" y="395118"/>
                    <a:pt x="289507" y="412898"/>
                  </a:cubicBezTo>
                  <a:cubicBezTo>
                    <a:pt x="297126" y="424328"/>
                    <a:pt x="308557" y="429408"/>
                    <a:pt x="321257" y="429408"/>
                  </a:cubicBezTo>
                  <a:cubicBezTo>
                    <a:pt x="328876" y="429408"/>
                    <a:pt x="336496" y="426868"/>
                    <a:pt x="342846" y="423058"/>
                  </a:cubicBezTo>
                  <a:lnTo>
                    <a:pt x="605736" y="246528"/>
                  </a:lnTo>
                  <a:cubicBezTo>
                    <a:pt x="615896" y="238908"/>
                    <a:pt x="622246" y="227478"/>
                    <a:pt x="622246" y="214778"/>
                  </a:cubicBezTo>
                  <a:cubicBezTo>
                    <a:pt x="622246" y="202078"/>
                    <a:pt x="615896" y="190648"/>
                    <a:pt x="604466" y="183028"/>
                  </a:cubicBezTo>
                  <a:close/>
                </a:path>
              </a:pathLst>
            </a:custGeom>
            <a:solidFill>
              <a:srgbClr val="000000"/>
            </a:solidFill>
          </p:spPr>
        </p:sp>
      </p:grpSp>
      <p:grpSp>
        <p:nvGrpSpPr>
          <p:cNvPr name="Group 4" id="4"/>
          <p:cNvGrpSpPr/>
          <p:nvPr/>
        </p:nvGrpSpPr>
        <p:grpSpPr>
          <a:xfrm rot="0">
            <a:off x="11623637" y="3671997"/>
            <a:ext cx="292794" cy="201986"/>
            <a:chOff x="0" y="0"/>
            <a:chExt cx="622246" cy="429260"/>
          </a:xfrm>
        </p:grpSpPr>
        <p:sp>
          <p:nvSpPr>
            <p:cNvPr name="Freeform 5" id="5"/>
            <p:cNvSpPr/>
            <p:nvPr/>
          </p:nvSpPr>
          <p:spPr>
            <a:xfrm flipH="false" flipV="false" rot="0">
              <a:off x="0" y="-148"/>
              <a:ext cx="622246" cy="429408"/>
            </a:xfrm>
            <a:custGeom>
              <a:avLst/>
              <a:gdLst/>
              <a:ahLst/>
              <a:cxnLst/>
              <a:rect r="r" b="b" t="t" l="l"/>
              <a:pathLst>
                <a:path h="429408" w="622246">
                  <a:moveTo>
                    <a:pt x="604466" y="183028"/>
                  </a:moveTo>
                  <a:lnTo>
                    <a:pt x="342846" y="6498"/>
                  </a:lnTo>
                  <a:cubicBezTo>
                    <a:pt x="325066" y="-4932"/>
                    <a:pt x="302206" y="-1122"/>
                    <a:pt x="289506" y="16658"/>
                  </a:cubicBezTo>
                  <a:cubicBezTo>
                    <a:pt x="278076" y="34438"/>
                    <a:pt x="281886" y="57298"/>
                    <a:pt x="299666" y="69998"/>
                  </a:cubicBezTo>
                  <a:lnTo>
                    <a:pt x="458416" y="176678"/>
                  </a:lnTo>
                  <a:lnTo>
                    <a:pt x="0" y="176678"/>
                  </a:lnTo>
                  <a:lnTo>
                    <a:pt x="0" y="252878"/>
                  </a:lnTo>
                  <a:lnTo>
                    <a:pt x="458416" y="252878"/>
                  </a:lnTo>
                  <a:lnTo>
                    <a:pt x="299666" y="359558"/>
                  </a:lnTo>
                  <a:cubicBezTo>
                    <a:pt x="281886" y="370988"/>
                    <a:pt x="278076" y="395118"/>
                    <a:pt x="289507" y="412898"/>
                  </a:cubicBezTo>
                  <a:cubicBezTo>
                    <a:pt x="297126" y="424328"/>
                    <a:pt x="308557" y="429408"/>
                    <a:pt x="321257" y="429408"/>
                  </a:cubicBezTo>
                  <a:cubicBezTo>
                    <a:pt x="328876" y="429408"/>
                    <a:pt x="336496" y="426868"/>
                    <a:pt x="342846" y="423058"/>
                  </a:cubicBezTo>
                  <a:lnTo>
                    <a:pt x="605736" y="246528"/>
                  </a:lnTo>
                  <a:cubicBezTo>
                    <a:pt x="615896" y="238908"/>
                    <a:pt x="622246" y="227478"/>
                    <a:pt x="622246" y="214778"/>
                  </a:cubicBezTo>
                  <a:cubicBezTo>
                    <a:pt x="622246" y="202078"/>
                    <a:pt x="615896" y="190648"/>
                    <a:pt x="604466" y="183028"/>
                  </a:cubicBezTo>
                  <a:close/>
                </a:path>
              </a:pathLst>
            </a:custGeom>
            <a:solidFill>
              <a:srgbClr val="000000"/>
            </a:solidFill>
          </p:spPr>
        </p:sp>
      </p:grpSp>
      <p:grpSp>
        <p:nvGrpSpPr>
          <p:cNvPr name="Group 6" id="6"/>
          <p:cNvGrpSpPr/>
          <p:nvPr/>
        </p:nvGrpSpPr>
        <p:grpSpPr>
          <a:xfrm rot="0">
            <a:off x="2841132" y="1227754"/>
            <a:ext cx="12605737" cy="1354199"/>
            <a:chOff x="0" y="0"/>
            <a:chExt cx="16807649" cy="1805598"/>
          </a:xfrm>
        </p:grpSpPr>
        <p:sp>
          <p:nvSpPr>
            <p:cNvPr name="TextBox 7" id="7"/>
            <p:cNvSpPr txBox="true"/>
            <p:nvPr/>
          </p:nvSpPr>
          <p:spPr>
            <a:xfrm rot="0">
              <a:off x="0" y="-47625"/>
              <a:ext cx="16807649" cy="1129268"/>
            </a:xfrm>
            <a:prstGeom prst="rect">
              <a:avLst/>
            </a:prstGeom>
          </p:spPr>
          <p:txBody>
            <a:bodyPr anchor="t" rtlCol="false" tIns="0" lIns="0" bIns="0" rIns="0">
              <a:spAutoFit/>
            </a:bodyPr>
            <a:lstStyle/>
            <a:p>
              <a:pPr algn="ctr" marL="0" indent="0" lvl="0">
                <a:lnSpc>
                  <a:spcPts val="6388"/>
                </a:lnSpc>
                <a:spcBef>
                  <a:spcPct val="0"/>
                </a:spcBef>
              </a:pPr>
              <a:r>
                <a:rPr lang="en-US" b="true" sz="5323" u="none">
                  <a:solidFill>
                    <a:srgbClr val="000000"/>
                  </a:solidFill>
                  <a:latin typeface="Poppins Medium"/>
                  <a:ea typeface="Poppins Medium"/>
                  <a:cs typeface="Poppins Medium"/>
                  <a:sym typeface="Poppins Medium"/>
                </a:rPr>
                <a:t>Construcción del Motor de Inducción</a:t>
              </a:r>
            </a:p>
          </p:txBody>
        </p:sp>
        <p:sp>
          <p:nvSpPr>
            <p:cNvPr name="TextBox 8" id="8"/>
            <p:cNvSpPr txBox="true"/>
            <p:nvPr/>
          </p:nvSpPr>
          <p:spPr>
            <a:xfrm rot="0">
              <a:off x="3855105" y="1370532"/>
              <a:ext cx="9097438" cy="435067"/>
            </a:xfrm>
            <a:prstGeom prst="rect">
              <a:avLst/>
            </a:prstGeom>
          </p:spPr>
          <p:txBody>
            <a:bodyPr anchor="t" rtlCol="false" tIns="0" lIns="0" bIns="0" rIns="0">
              <a:spAutoFit/>
            </a:bodyPr>
            <a:lstStyle/>
            <a:p>
              <a:pPr algn="ctr" marL="0" indent="0" lvl="0">
                <a:lnSpc>
                  <a:spcPts val="2518"/>
                </a:lnSpc>
              </a:pPr>
              <a:r>
                <a:rPr lang="en-US" b="true" sz="2098" spc="52">
                  <a:solidFill>
                    <a:srgbClr val="000000"/>
                  </a:solidFill>
                  <a:latin typeface="Poppins Medium"/>
                  <a:ea typeface="Poppins Medium"/>
                  <a:cs typeface="Poppins Medium"/>
                  <a:sym typeface="Poppins Medium"/>
                </a:rPr>
                <a:t>PASOS PARA EL ENSAMBLAJE</a:t>
              </a:r>
            </a:p>
          </p:txBody>
        </p:sp>
      </p:grpSp>
      <p:grpSp>
        <p:nvGrpSpPr>
          <p:cNvPr name="Group 9" id="9"/>
          <p:cNvGrpSpPr/>
          <p:nvPr/>
        </p:nvGrpSpPr>
        <p:grpSpPr>
          <a:xfrm rot="0">
            <a:off x="2117064" y="3383666"/>
            <a:ext cx="3549734" cy="4800593"/>
            <a:chOff x="0" y="0"/>
            <a:chExt cx="4732978" cy="6400791"/>
          </a:xfrm>
        </p:grpSpPr>
        <p:grpSp>
          <p:nvGrpSpPr>
            <p:cNvPr name="Group 10" id="10"/>
            <p:cNvGrpSpPr/>
            <p:nvPr/>
          </p:nvGrpSpPr>
          <p:grpSpPr>
            <a:xfrm rot="0">
              <a:off x="0" y="0"/>
              <a:ext cx="4732978" cy="1055126"/>
              <a:chOff x="0" y="0"/>
              <a:chExt cx="1478175" cy="329531"/>
            </a:xfrm>
          </p:grpSpPr>
          <p:sp>
            <p:nvSpPr>
              <p:cNvPr name="Freeform 11" id="11"/>
              <p:cNvSpPr/>
              <p:nvPr/>
            </p:nvSpPr>
            <p:spPr>
              <a:xfrm flipH="false" flipV="false" rot="0">
                <a:off x="0" y="0"/>
                <a:ext cx="1478175" cy="329531"/>
              </a:xfrm>
              <a:custGeom>
                <a:avLst/>
                <a:gdLst/>
                <a:ahLst/>
                <a:cxnLst/>
                <a:rect r="r" b="b" t="t" l="l"/>
                <a:pathLst>
                  <a:path h="329531" w="1478175">
                    <a:moveTo>
                      <a:pt x="0" y="0"/>
                    </a:moveTo>
                    <a:lnTo>
                      <a:pt x="1478175" y="0"/>
                    </a:lnTo>
                    <a:lnTo>
                      <a:pt x="1478175" y="329531"/>
                    </a:lnTo>
                    <a:lnTo>
                      <a:pt x="0" y="329531"/>
                    </a:lnTo>
                    <a:close/>
                  </a:path>
                </a:pathLst>
              </a:custGeom>
              <a:solidFill>
                <a:srgbClr val="005CE6"/>
              </a:solidFill>
            </p:spPr>
          </p:sp>
        </p:grpSp>
        <p:sp>
          <p:nvSpPr>
            <p:cNvPr name="TextBox 12" id="12"/>
            <p:cNvSpPr txBox="true"/>
            <p:nvPr/>
          </p:nvSpPr>
          <p:spPr>
            <a:xfrm rot="0">
              <a:off x="0" y="1526489"/>
              <a:ext cx="4732978" cy="4874302"/>
            </a:xfrm>
            <a:prstGeom prst="rect">
              <a:avLst/>
            </a:prstGeom>
          </p:spPr>
          <p:txBody>
            <a:bodyPr anchor="t" rtlCol="false" tIns="0" lIns="0" bIns="0" rIns="0">
              <a:spAutoFit/>
            </a:bodyPr>
            <a:lstStyle/>
            <a:p>
              <a:pPr algn="l" marL="0" indent="0" lvl="0">
                <a:lnSpc>
                  <a:spcPts val="2728"/>
                </a:lnSpc>
              </a:pPr>
              <a:r>
                <a:rPr lang="en-US" sz="2098" spc="20">
                  <a:solidFill>
                    <a:srgbClr val="000000"/>
                  </a:solidFill>
                  <a:latin typeface="HK Grotesk Light"/>
                  <a:ea typeface="HK Grotesk Light"/>
                  <a:cs typeface="HK Grotesk Light"/>
                  <a:sym typeface="HK Grotesk Light"/>
                </a:rPr>
                <a:t>Toma el alambre de cobre esmaltado y enróllalo alrededor de un objeto cilíndrico (como una pila AA) para formar una bobina de aproximadamente 10-15 vueltas.</a:t>
              </a:r>
            </a:p>
            <a:p>
              <a:pPr algn="l" marL="0" indent="0" lvl="0">
                <a:lnSpc>
                  <a:spcPts val="2728"/>
                </a:lnSpc>
              </a:pPr>
              <a:r>
                <a:rPr lang="en-US" sz="2098" spc="20">
                  <a:solidFill>
                    <a:srgbClr val="000000"/>
                  </a:solidFill>
                  <a:latin typeface="HK Grotesk Light"/>
                  <a:ea typeface="HK Grotesk Light"/>
                  <a:cs typeface="HK Grotesk Light"/>
                  <a:sym typeface="HK Grotesk Light"/>
                </a:rPr>
                <a:t>Deja dos extremos rectos de igual longitud (3-4 cm cada uno) que servirán como eje de rotación.</a:t>
              </a:r>
            </a:p>
          </p:txBody>
        </p:sp>
        <p:sp>
          <p:nvSpPr>
            <p:cNvPr name="TextBox 13" id="13"/>
            <p:cNvSpPr txBox="true"/>
            <p:nvPr/>
          </p:nvSpPr>
          <p:spPr>
            <a:xfrm rot="0">
              <a:off x="377327" y="311997"/>
              <a:ext cx="3978324" cy="851083"/>
            </a:xfrm>
            <a:prstGeom prst="rect">
              <a:avLst/>
            </a:prstGeom>
          </p:spPr>
          <p:txBody>
            <a:bodyPr anchor="t" rtlCol="false" tIns="0" lIns="0" bIns="0" rIns="0">
              <a:spAutoFit/>
            </a:bodyPr>
            <a:lstStyle/>
            <a:p>
              <a:pPr algn="ctr" marL="0" indent="0" lvl="0">
                <a:lnSpc>
                  <a:spcPts val="2518"/>
                </a:lnSpc>
              </a:pPr>
              <a:r>
                <a:rPr lang="en-US" b="true" sz="2098" spc="52">
                  <a:solidFill>
                    <a:srgbClr val="FFFFFF"/>
                  </a:solidFill>
                  <a:latin typeface="Poppins Medium"/>
                  <a:ea typeface="Poppins Medium"/>
                  <a:cs typeface="Poppins Medium"/>
                  <a:sym typeface="Poppins Medium"/>
                </a:rPr>
                <a:t>PASO 1: ENROLLAR LA BOBINA</a:t>
              </a:r>
            </a:p>
          </p:txBody>
        </p:sp>
      </p:grpSp>
      <p:grpSp>
        <p:nvGrpSpPr>
          <p:cNvPr name="Group 14" id="14"/>
          <p:cNvGrpSpPr/>
          <p:nvPr/>
        </p:nvGrpSpPr>
        <p:grpSpPr>
          <a:xfrm rot="0">
            <a:off x="7369133" y="3383666"/>
            <a:ext cx="3549734" cy="4467780"/>
            <a:chOff x="0" y="0"/>
            <a:chExt cx="4732978" cy="5957040"/>
          </a:xfrm>
        </p:grpSpPr>
        <p:grpSp>
          <p:nvGrpSpPr>
            <p:cNvPr name="Group 15" id="15"/>
            <p:cNvGrpSpPr/>
            <p:nvPr/>
          </p:nvGrpSpPr>
          <p:grpSpPr>
            <a:xfrm rot="0">
              <a:off x="0" y="0"/>
              <a:ext cx="4732978" cy="1055126"/>
              <a:chOff x="0" y="0"/>
              <a:chExt cx="1478175" cy="329531"/>
            </a:xfrm>
          </p:grpSpPr>
          <p:sp>
            <p:nvSpPr>
              <p:cNvPr name="Freeform 16" id="16"/>
              <p:cNvSpPr/>
              <p:nvPr/>
            </p:nvSpPr>
            <p:spPr>
              <a:xfrm flipH="false" flipV="false" rot="0">
                <a:off x="0" y="0"/>
                <a:ext cx="1478175" cy="329531"/>
              </a:xfrm>
              <a:custGeom>
                <a:avLst/>
                <a:gdLst/>
                <a:ahLst/>
                <a:cxnLst/>
                <a:rect r="r" b="b" t="t" l="l"/>
                <a:pathLst>
                  <a:path h="329531" w="1478175">
                    <a:moveTo>
                      <a:pt x="0" y="0"/>
                    </a:moveTo>
                    <a:lnTo>
                      <a:pt x="1478175" y="0"/>
                    </a:lnTo>
                    <a:lnTo>
                      <a:pt x="1478175" y="329531"/>
                    </a:lnTo>
                    <a:lnTo>
                      <a:pt x="0" y="329531"/>
                    </a:lnTo>
                    <a:close/>
                  </a:path>
                </a:pathLst>
              </a:custGeom>
              <a:solidFill>
                <a:srgbClr val="D610D4"/>
              </a:solidFill>
            </p:spPr>
          </p:sp>
        </p:grpSp>
        <p:sp>
          <p:nvSpPr>
            <p:cNvPr name="TextBox 17" id="17"/>
            <p:cNvSpPr txBox="true"/>
            <p:nvPr/>
          </p:nvSpPr>
          <p:spPr>
            <a:xfrm rot="0">
              <a:off x="0" y="1526489"/>
              <a:ext cx="4732978" cy="4430551"/>
            </a:xfrm>
            <a:prstGeom prst="rect">
              <a:avLst/>
            </a:prstGeom>
          </p:spPr>
          <p:txBody>
            <a:bodyPr anchor="t" rtlCol="false" tIns="0" lIns="0" bIns="0" rIns="0">
              <a:spAutoFit/>
            </a:bodyPr>
            <a:lstStyle/>
            <a:p>
              <a:pPr algn="l" marL="0" indent="0" lvl="0">
                <a:lnSpc>
                  <a:spcPts val="2728"/>
                </a:lnSpc>
              </a:pPr>
              <a:r>
                <a:rPr lang="en-US" sz="2098" spc="20">
                  <a:solidFill>
                    <a:srgbClr val="000000"/>
                  </a:solidFill>
                  <a:latin typeface="HK Grotesk Light"/>
                  <a:ea typeface="HK Grotesk Light"/>
                  <a:cs typeface="HK Grotesk Light"/>
                  <a:sym typeface="HK Grotesk Light"/>
                </a:rPr>
                <a:t>Con papel de lija fino, raspa completamente el esmalte de un extremo del alambre. En el otro extremo, lija solo la mitad superior del alambre.</a:t>
              </a:r>
            </a:p>
            <a:p>
              <a:pPr algn="l" marL="0" indent="0" lvl="0">
                <a:lnSpc>
                  <a:spcPts val="2728"/>
                </a:lnSpc>
              </a:pPr>
              <a:r>
                <a:rPr lang="en-US" sz="2098" spc="20">
                  <a:solidFill>
                    <a:srgbClr val="000000"/>
                  </a:solidFill>
                  <a:latin typeface="HK Grotesk Light"/>
                  <a:ea typeface="HK Grotesk Light"/>
                  <a:cs typeface="HK Grotesk Light"/>
                  <a:sym typeface="HK Grotesk Light"/>
                </a:rPr>
                <a:t>Este paso es crucial: permite que la corriente fluya intermitentemente, creando el campo magnético variable necesario.</a:t>
              </a:r>
            </a:p>
          </p:txBody>
        </p:sp>
        <p:sp>
          <p:nvSpPr>
            <p:cNvPr name="TextBox 18" id="18"/>
            <p:cNvSpPr txBox="true"/>
            <p:nvPr/>
          </p:nvSpPr>
          <p:spPr>
            <a:xfrm rot="0">
              <a:off x="263676" y="311997"/>
              <a:ext cx="4166853" cy="851083"/>
            </a:xfrm>
            <a:prstGeom prst="rect">
              <a:avLst/>
            </a:prstGeom>
          </p:spPr>
          <p:txBody>
            <a:bodyPr anchor="t" rtlCol="false" tIns="0" lIns="0" bIns="0" rIns="0">
              <a:spAutoFit/>
            </a:bodyPr>
            <a:lstStyle/>
            <a:p>
              <a:pPr algn="ctr" marL="0" indent="0" lvl="0">
                <a:lnSpc>
                  <a:spcPts val="2518"/>
                </a:lnSpc>
              </a:pPr>
              <a:r>
                <a:rPr lang="en-US" b="true" sz="2098" spc="52">
                  <a:solidFill>
                    <a:srgbClr val="FFFFFF"/>
                  </a:solidFill>
                  <a:latin typeface="Poppins Medium"/>
                  <a:ea typeface="Poppins Medium"/>
                  <a:cs typeface="Poppins Medium"/>
                  <a:sym typeface="Poppins Medium"/>
                </a:rPr>
                <a:t>PASO 2: LIJAR LOS EXTREMOS</a:t>
              </a:r>
            </a:p>
          </p:txBody>
        </p:sp>
      </p:grpSp>
      <p:grpSp>
        <p:nvGrpSpPr>
          <p:cNvPr name="Group 19" id="19"/>
          <p:cNvGrpSpPr/>
          <p:nvPr/>
        </p:nvGrpSpPr>
        <p:grpSpPr>
          <a:xfrm rot="0">
            <a:off x="12621202" y="3383666"/>
            <a:ext cx="3549734" cy="4467780"/>
            <a:chOff x="0" y="0"/>
            <a:chExt cx="4732978" cy="5957040"/>
          </a:xfrm>
        </p:grpSpPr>
        <p:grpSp>
          <p:nvGrpSpPr>
            <p:cNvPr name="Group 20" id="20"/>
            <p:cNvGrpSpPr/>
            <p:nvPr/>
          </p:nvGrpSpPr>
          <p:grpSpPr>
            <a:xfrm rot="0">
              <a:off x="0" y="0"/>
              <a:ext cx="4732978" cy="1055126"/>
              <a:chOff x="0" y="0"/>
              <a:chExt cx="1478175" cy="329531"/>
            </a:xfrm>
          </p:grpSpPr>
          <p:sp>
            <p:nvSpPr>
              <p:cNvPr name="Freeform 21" id="21"/>
              <p:cNvSpPr/>
              <p:nvPr/>
            </p:nvSpPr>
            <p:spPr>
              <a:xfrm flipH="false" flipV="false" rot="0">
                <a:off x="0" y="0"/>
                <a:ext cx="1478175" cy="329531"/>
              </a:xfrm>
              <a:custGeom>
                <a:avLst/>
                <a:gdLst/>
                <a:ahLst/>
                <a:cxnLst/>
                <a:rect r="r" b="b" t="t" l="l"/>
                <a:pathLst>
                  <a:path h="329531" w="1478175">
                    <a:moveTo>
                      <a:pt x="0" y="0"/>
                    </a:moveTo>
                    <a:lnTo>
                      <a:pt x="1478175" y="0"/>
                    </a:lnTo>
                    <a:lnTo>
                      <a:pt x="1478175" y="329531"/>
                    </a:lnTo>
                    <a:lnTo>
                      <a:pt x="0" y="329531"/>
                    </a:lnTo>
                    <a:close/>
                  </a:path>
                </a:pathLst>
              </a:custGeom>
              <a:solidFill>
                <a:srgbClr val="1D7144"/>
              </a:solidFill>
            </p:spPr>
          </p:sp>
        </p:grpSp>
        <p:sp>
          <p:nvSpPr>
            <p:cNvPr name="TextBox 22" id="22"/>
            <p:cNvSpPr txBox="true"/>
            <p:nvPr/>
          </p:nvSpPr>
          <p:spPr>
            <a:xfrm rot="0">
              <a:off x="0" y="1526489"/>
              <a:ext cx="4732978" cy="4430551"/>
            </a:xfrm>
            <a:prstGeom prst="rect">
              <a:avLst/>
            </a:prstGeom>
          </p:spPr>
          <p:txBody>
            <a:bodyPr anchor="t" rtlCol="false" tIns="0" lIns="0" bIns="0" rIns="0">
              <a:spAutoFit/>
            </a:bodyPr>
            <a:lstStyle/>
            <a:p>
              <a:pPr algn="l" marL="0" indent="0" lvl="0">
                <a:lnSpc>
                  <a:spcPts val="2728"/>
                </a:lnSpc>
              </a:pPr>
              <a:r>
                <a:rPr lang="en-US" sz="2098" spc="20">
                  <a:solidFill>
                    <a:srgbClr val="000000"/>
                  </a:solidFill>
                  <a:latin typeface="HK Grotesk Light"/>
                  <a:ea typeface="HK Grotesk Light"/>
                  <a:cs typeface="HK Grotesk Light"/>
                  <a:sym typeface="HK Grotesk Light"/>
                </a:rPr>
                <a:t>Coloca el imán de neodimio sobre el polo positivo de la pila de 9V. Apoya los extremos del alambre sobre los terminales de la pila.</a:t>
              </a:r>
            </a:p>
            <a:p>
              <a:pPr algn="l" marL="0" indent="0" lvl="0">
                <a:lnSpc>
                  <a:spcPts val="2728"/>
                </a:lnSpc>
              </a:pPr>
              <a:r>
                <a:rPr lang="en-US" sz="2098" spc="20">
                  <a:solidFill>
                    <a:srgbClr val="000000"/>
                  </a:solidFill>
                  <a:latin typeface="HK Grotesk Light"/>
                  <a:ea typeface="HK Grotesk Light"/>
                  <a:cs typeface="HK Grotesk Light"/>
                  <a:sym typeface="HK Grotesk Light"/>
                </a:rPr>
                <a:t>La bobina comenzará a girar debido a la interacción entre el campo magnético del imán y el campo generado por la corriente.</a:t>
              </a:r>
            </a:p>
          </p:txBody>
        </p:sp>
        <p:sp>
          <p:nvSpPr>
            <p:cNvPr name="TextBox 23" id="23"/>
            <p:cNvSpPr txBox="true"/>
            <p:nvPr/>
          </p:nvSpPr>
          <p:spPr>
            <a:xfrm rot="0">
              <a:off x="364922" y="311997"/>
              <a:ext cx="4003134" cy="851083"/>
            </a:xfrm>
            <a:prstGeom prst="rect">
              <a:avLst/>
            </a:prstGeom>
          </p:spPr>
          <p:txBody>
            <a:bodyPr anchor="t" rtlCol="false" tIns="0" lIns="0" bIns="0" rIns="0">
              <a:spAutoFit/>
            </a:bodyPr>
            <a:lstStyle/>
            <a:p>
              <a:pPr algn="ctr" marL="0" indent="0" lvl="0">
                <a:lnSpc>
                  <a:spcPts val="2518"/>
                </a:lnSpc>
              </a:pPr>
              <a:r>
                <a:rPr lang="en-US" b="true" sz="2098" spc="52">
                  <a:solidFill>
                    <a:srgbClr val="FFFFFF"/>
                  </a:solidFill>
                  <a:latin typeface="Poppins Medium"/>
                  <a:ea typeface="Poppins Medium"/>
                  <a:cs typeface="Poppins Medium"/>
                  <a:sym typeface="Poppins Medium"/>
                </a:rPr>
                <a:t>PASO 3: MONTAR EL MOTOR</a:t>
              </a:r>
            </a:p>
          </p:txBody>
        </p:sp>
      </p:grpSp>
      <p:grpSp>
        <p:nvGrpSpPr>
          <p:cNvPr name="Group 24" id="24"/>
          <p:cNvGrpSpPr/>
          <p:nvPr/>
        </p:nvGrpSpPr>
        <p:grpSpPr>
          <a:xfrm rot="0">
            <a:off x="5753224" y="9258300"/>
            <a:ext cx="9511178" cy="214890"/>
            <a:chOff x="0" y="0"/>
            <a:chExt cx="25294954" cy="571500"/>
          </a:xfrm>
        </p:grpSpPr>
        <p:sp>
          <p:nvSpPr>
            <p:cNvPr name="Freeform 25" id="25"/>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26" id="26"/>
          <p:cNvSpPr txBox="true"/>
          <p:nvPr/>
        </p:nvSpPr>
        <p:spPr>
          <a:xfrm rot="0">
            <a:off x="15374896" y="9239250"/>
            <a:ext cx="1884404" cy="227058"/>
          </a:xfrm>
          <a:prstGeom prst="rect">
            <a:avLst/>
          </a:prstGeom>
        </p:spPr>
        <p:txBody>
          <a:bodyPr anchor="t" rtlCol="false" tIns="0" lIns="0" bIns="0" rIns="0">
            <a:spAutoFit/>
          </a:bodyPr>
          <a:lstStyle/>
          <a:p>
            <a:pPr algn="r" marL="0" indent="0" lvl="0">
              <a:lnSpc>
                <a:spcPts val="1678"/>
              </a:lnSpc>
            </a:pPr>
            <a:r>
              <a:rPr lang="en-US" b="true" sz="1399" spc="97">
                <a:solidFill>
                  <a:srgbClr val="000000"/>
                </a:solidFill>
                <a:latin typeface="Poppins Medium"/>
                <a:ea typeface="Poppins Medium"/>
                <a:cs typeface="Poppins Medium"/>
                <a:sym typeface="Poppins Medium"/>
              </a:rPr>
              <a:t>Página 14 de 20</a:t>
            </a:r>
          </a:p>
        </p:txBody>
      </p:sp>
      <p:sp>
        <p:nvSpPr>
          <p:cNvPr name="TextBox 27" id="27"/>
          <p:cNvSpPr txBox="true"/>
          <p:nvPr/>
        </p:nvSpPr>
        <p:spPr>
          <a:xfrm rot="0">
            <a:off x="1028700" y="9239250"/>
            <a:ext cx="4724524" cy="227058"/>
          </a:xfrm>
          <a:prstGeom prst="rect">
            <a:avLst/>
          </a:prstGeom>
        </p:spPr>
        <p:txBody>
          <a:bodyPr anchor="t" rtlCol="false" tIns="0" lIns="0" bIns="0" rIns="0">
            <a:spAutoFit/>
          </a:bodyPr>
          <a:lstStyle/>
          <a:p>
            <a:pPr algn="l" marL="0" indent="0" lvl="0">
              <a:lnSpc>
                <a:spcPts val="1678"/>
              </a:lnSpc>
            </a:pPr>
            <a:r>
              <a:rPr lang="en-US" b="true" sz="1399" spc="97">
                <a:solidFill>
                  <a:srgbClr val="000000"/>
                </a:solidFill>
                <a:latin typeface="Poppins Medium"/>
                <a:ea typeface="Poppins Medium"/>
                <a:cs typeface="Poppins Medium"/>
                <a:sym typeface="Poppins Medium"/>
              </a:rPr>
              <a:t>FUENTE: MAKE MAGAZINE, PROYECTOS DIY</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sp>
        <p:nvSpPr>
          <p:cNvPr name="AutoShape 2" id="2"/>
          <p:cNvSpPr/>
          <p:nvPr/>
        </p:nvSpPr>
        <p:spPr>
          <a:xfrm rot="0">
            <a:off x="9361002" y="1397241"/>
            <a:ext cx="48213" cy="5690564"/>
          </a:xfrm>
          <a:prstGeom prst="rect">
            <a:avLst/>
          </a:prstGeom>
          <a:solidFill>
            <a:srgbClr val="000000"/>
          </a:solidFill>
        </p:spPr>
      </p:sp>
      <p:grpSp>
        <p:nvGrpSpPr>
          <p:cNvPr name="Group 3" id="3"/>
          <p:cNvGrpSpPr/>
          <p:nvPr/>
        </p:nvGrpSpPr>
        <p:grpSpPr>
          <a:xfrm rot="0">
            <a:off x="9144363" y="1397241"/>
            <a:ext cx="490804" cy="490804"/>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D7144"/>
            </a:solidFill>
          </p:spPr>
        </p:sp>
      </p:grpSp>
      <p:grpSp>
        <p:nvGrpSpPr>
          <p:cNvPr name="Group 5" id="5"/>
          <p:cNvGrpSpPr/>
          <p:nvPr/>
        </p:nvGrpSpPr>
        <p:grpSpPr>
          <a:xfrm rot="0">
            <a:off x="9144363" y="1397241"/>
            <a:ext cx="490804" cy="490804"/>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7318"/>
            </a:solidFill>
          </p:spPr>
        </p:sp>
      </p:grpSp>
      <p:grpSp>
        <p:nvGrpSpPr>
          <p:cNvPr name="Group 7" id="7"/>
          <p:cNvGrpSpPr/>
          <p:nvPr/>
        </p:nvGrpSpPr>
        <p:grpSpPr>
          <a:xfrm rot="0">
            <a:off x="5753224" y="9258300"/>
            <a:ext cx="9511178" cy="214890"/>
            <a:chOff x="0" y="0"/>
            <a:chExt cx="25294954" cy="571500"/>
          </a:xfrm>
        </p:grpSpPr>
        <p:sp>
          <p:nvSpPr>
            <p:cNvPr name="Freeform 8" id="8"/>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9" id="9"/>
          <p:cNvGrpSpPr/>
          <p:nvPr/>
        </p:nvGrpSpPr>
        <p:grpSpPr>
          <a:xfrm rot="0">
            <a:off x="9152202" y="3243702"/>
            <a:ext cx="417600" cy="417600"/>
            <a:chOff x="0" y="0"/>
            <a:chExt cx="1913890" cy="1913890"/>
          </a:xfrm>
        </p:grpSpPr>
        <p:sp>
          <p:nvSpPr>
            <p:cNvPr name="Freeform 10" id="10"/>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1D7144"/>
            </a:solidFill>
          </p:spPr>
        </p:sp>
      </p:grpSp>
      <p:grpSp>
        <p:nvGrpSpPr>
          <p:cNvPr name="Group 11" id="11"/>
          <p:cNvGrpSpPr>
            <a:grpSpLocks noChangeAspect="true"/>
          </p:cNvGrpSpPr>
          <p:nvPr/>
        </p:nvGrpSpPr>
        <p:grpSpPr>
          <a:xfrm rot="0">
            <a:off x="9144000" y="5008559"/>
            <a:ext cx="482217" cy="417600"/>
            <a:chOff x="0" y="0"/>
            <a:chExt cx="6350000" cy="5499100"/>
          </a:xfrm>
        </p:grpSpPr>
        <p:sp>
          <p:nvSpPr>
            <p:cNvPr name="Freeform 12" id="12"/>
            <p:cNvSpPr/>
            <p:nvPr/>
          </p:nvSpPr>
          <p:spPr>
            <a:xfrm flipH="false" flipV="false" rot="0">
              <a:off x="0" y="0"/>
              <a:ext cx="6350000" cy="5499100"/>
            </a:xfrm>
            <a:custGeom>
              <a:avLst/>
              <a:gdLst/>
              <a:ahLst/>
              <a:cxnLst/>
              <a:rect r="r" b="b" t="t" l="l"/>
              <a:pathLst>
                <a:path h="5499100" w="6350000">
                  <a:moveTo>
                    <a:pt x="0" y="5499100"/>
                  </a:moveTo>
                  <a:lnTo>
                    <a:pt x="3175000" y="0"/>
                  </a:lnTo>
                  <a:lnTo>
                    <a:pt x="6350000" y="5499100"/>
                  </a:lnTo>
                  <a:lnTo>
                    <a:pt x="0" y="5499100"/>
                  </a:lnTo>
                  <a:close/>
                </a:path>
              </a:pathLst>
            </a:custGeom>
            <a:solidFill>
              <a:srgbClr val="005CE6"/>
            </a:solidFill>
          </p:spPr>
        </p:sp>
      </p:grpSp>
      <p:grpSp>
        <p:nvGrpSpPr>
          <p:cNvPr name="Group 13" id="13"/>
          <p:cNvGrpSpPr/>
          <p:nvPr/>
        </p:nvGrpSpPr>
        <p:grpSpPr>
          <a:xfrm rot="0">
            <a:off x="9152202" y="6878658"/>
            <a:ext cx="482965" cy="418293"/>
            <a:chOff x="0" y="0"/>
            <a:chExt cx="6202680" cy="5372100"/>
          </a:xfrm>
        </p:grpSpPr>
        <p:sp>
          <p:nvSpPr>
            <p:cNvPr name="Freeform 14" id="14"/>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D610D4"/>
            </a:solidFill>
          </p:spPr>
        </p:sp>
      </p:grpSp>
      <p:sp>
        <p:nvSpPr>
          <p:cNvPr name="TextBox 15" id="15"/>
          <p:cNvSpPr txBox="true"/>
          <p:nvPr/>
        </p:nvSpPr>
        <p:spPr>
          <a:xfrm rot="0">
            <a:off x="1712025" y="3322872"/>
            <a:ext cx="5646620" cy="1970827"/>
          </a:xfrm>
          <a:prstGeom prst="rect">
            <a:avLst/>
          </a:prstGeom>
        </p:spPr>
        <p:txBody>
          <a:bodyPr anchor="t" rtlCol="false" tIns="0" lIns="0" bIns="0" rIns="0">
            <a:spAutoFit/>
          </a:bodyPr>
          <a:lstStyle/>
          <a:p>
            <a:pPr algn="r" marL="0" indent="0" lvl="0">
              <a:lnSpc>
                <a:spcPts val="7674"/>
              </a:lnSpc>
            </a:pPr>
            <a:r>
              <a:rPr lang="en-US" b="true" sz="6395">
                <a:solidFill>
                  <a:srgbClr val="000000"/>
                </a:solidFill>
                <a:latin typeface="Poppins Medium"/>
                <a:ea typeface="Poppins Medium"/>
                <a:cs typeface="Poppins Medium"/>
                <a:sym typeface="Poppins Medium"/>
              </a:rPr>
              <a:t>Fases del</a:t>
            </a:r>
          </a:p>
          <a:p>
            <a:pPr algn="r" marL="0" indent="0" lvl="0">
              <a:lnSpc>
                <a:spcPts val="7674"/>
              </a:lnSpc>
            </a:pPr>
            <a:r>
              <a:rPr lang="en-US" b="true" sz="6395">
                <a:solidFill>
                  <a:srgbClr val="000000"/>
                </a:solidFill>
                <a:latin typeface="Poppins Medium"/>
                <a:ea typeface="Poppins Medium"/>
                <a:cs typeface="Poppins Medium"/>
                <a:sym typeface="Poppins Medium"/>
              </a:rPr>
              <a:t>Experimento</a:t>
            </a:r>
          </a:p>
        </p:txBody>
      </p:sp>
      <p:grpSp>
        <p:nvGrpSpPr>
          <p:cNvPr name="Group 16" id="16"/>
          <p:cNvGrpSpPr/>
          <p:nvPr/>
        </p:nvGrpSpPr>
        <p:grpSpPr>
          <a:xfrm rot="0">
            <a:off x="9989763" y="1486637"/>
            <a:ext cx="6983887" cy="1128473"/>
            <a:chOff x="0" y="0"/>
            <a:chExt cx="9311849" cy="1504631"/>
          </a:xfrm>
        </p:grpSpPr>
        <p:sp>
          <p:nvSpPr>
            <p:cNvPr name="TextBox 17" id="17"/>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1: PREPARACIÓN</a:t>
              </a:r>
            </a:p>
          </p:txBody>
        </p:sp>
        <p:sp>
          <p:nvSpPr>
            <p:cNvPr name="TextBox 18" id="18"/>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Reúne los materiales: pila de 9V, alambre de cobre esmaltado calibre 22-26, imán de neodimio y soporte. Lija los extremos del alambre para exponer el cobre conductor.</a:t>
              </a:r>
            </a:p>
          </p:txBody>
        </p:sp>
      </p:grpSp>
      <p:grpSp>
        <p:nvGrpSpPr>
          <p:cNvPr name="Group 19" id="19"/>
          <p:cNvGrpSpPr/>
          <p:nvPr/>
        </p:nvGrpSpPr>
        <p:grpSpPr>
          <a:xfrm rot="0">
            <a:off x="9989763" y="3296496"/>
            <a:ext cx="6983887" cy="1128473"/>
            <a:chOff x="0" y="0"/>
            <a:chExt cx="9311849" cy="1504631"/>
          </a:xfrm>
        </p:grpSpPr>
        <p:sp>
          <p:nvSpPr>
            <p:cNvPr name="TextBox 20" id="20"/>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2: CONSTRUCCIÓN DE BOBINA</a:t>
              </a:r>
            </a:p>
          </p:txBody>
        </p:sp>
        <p:sp>
          <p:nvSpPr>
            <p:cNvPr name="TextBox 21" id="21"/>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Enrolla el alambre esmaltado alrededor de un cilindro (15-20 vueltas). Deja extremos rectos de 3-4 cm. Raspa el esmalte de un lado en cada extremo para crear el conmutador.</a:t>
              </a:r>
            </a:p>
          </p:txBody>
        </p:sp>
      </p:grpSp>
      <p:grpSp>
        <p:nvGrpSpPr>
          <p:cNvPr name="Group 22" id="22"/>
          <p:cNvGrpSpPr/>
          <p:nvPr/>
        </p:nvGrpSpPr>
        <p:grpSpPr>
          <a:xfrm rot="0">
            <a:off x="9989763" y="5114147"/>
            <a:ext cx="6983887" cy="1128473"/>
            <a:chOff x="0" y="0"/>
            <a:chExt cx="9311849" cy="1504631"/>
          </a:xfrm>
        </p:grpSpPr>
        <p:sp>
          <p:nvSpPr>
            <p:cNvPr name="TextBox 23" id="23"/>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3: ENSAMBLAJE</a:t>
              </a:r>
            </a:p>
          </p:txBody>
        </p:sp>
        <p:sp>
          <p:nvSpPr>
            <p:cNvPr name="TextBox 24" id="24"/>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Conecta los clips o soportes a los terminales de la pila. Coloca la bobina sobre los soportes. Posiciona el imán debajo de la bobina, centrado y cerca de las espiras.</a:t>
              </a:r>
            </a:p>
          </p:txBody>
        </p:sp>
      </p:grpSp>
      <p:grpSp>
        <p:nvGrpSpPr>
          <p:cNvPr name="Group 25" id="25"/>
          <p:cNvGrpSpPr/>
          <p:nvPr/>
        </p:nvGrpSpPr>
        <p:grpSpPr>
          <a:xfrm rot="0">
            <a:off x="9989763" y="6931798"/>
            <a:ext cx="6983887" cy="1128473"/>
            <a:chOff x="0" y="0"/>
            <a:chExt cx="9311849" cy="1504631"/>
          </a:xfrm>
        </p:grpSpPr>
        <p:sp>
          <p:nvSpPr>
            <p:cNvPr name="TextBox 26" id="26"/>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4: PRUEBA Y AJUSTE</a:t>
              </a:r>
            </a:p>
          </p:txBody>
        </p:sp>
        <p:sp>
          <p:nvSpPr>
            <p:cNvPr name="TextBox 27" id="27"/>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Dale un impulso inicial a la bobina. Ajusta la altura del imán y el balance de la bobina. Si no gira, verifica que el esmalte esté bien raspado y que la bobina esté equilibrada.</a:t>
              </a:r>
            </a:p>
          </p:txBody>
        </p:sp>
      </p:grpSp>
      <p:sp>
        <p:nvSpPr>
          <p:cNvPr name="TextBox 28" id="28"/>
          <p:cNvSpPr txBox="true"/>
          <p:nvPr/>
        </p:nvSpPr>
        <p:spPr>
          <a:xfrm rot="0">
            <a:off x="15374896" y="9239250"/>
            <a:ext cx="1884404" cy="227058"/>
          </a:xfrm>
          <a:prstGeom prst="rect">
            <a:avLst/>
          </a:prstGeom>
        </p:spPr>
        <p:txBody>
          <a:bodyPr anchor="t" rtlCol="false" tIns="0" lIns="0" bIns="0" rIns="0">
            <a:spAutoFit/>
          </a:bodyPr>
          <a:lstStyle/>
          <a:p>
            <a:pPr algn="r" marL="0" indent="0" lvl="0">
              <a:lnSpc>
                <a:spcPts val="1678"/>
              </a:lnSpc>
            </a:pPr>
            <a:r>
              <a:rPr lang="en-US" b="true" sz="1399" spc="97">
                <a:solidFill>
                  <a:srgbClr val="000000"/>
                </a:solidFill>
                <a:latin typeface="Poppins Medium"/>
                <a:ea typeface="Poppins Medium"/>
                <a:cs typeface="Poppins Medium"/>
                <a:sym typeface="Poppins Medium"/>
              </a:rPr>
              <a:t>15 / 20</a:t>
            </a:r>
          </a:p>
        </p:txBody>
      </p:sp>
      <p:sp>
        <p:nvSpPr>
          <p:cNvPr name="TextBox 29" id="29"/>
          <p:cNvSpPr txBox="true"/>
          <p:nvPr/>
        </p:nvSpPr>
        <p:spPr>
          <a:xfrm rot="0">
            <a:off x="1028700" y="9239250"/>
            <a:ext cx="4724524" cy="227058"/>
          </a:xfrm>
          <a:prstGeom prst="rect">
            <a:avLst/>
          </a:prstGeom>
        </p:spPr>
        <p:txBody>
          <a:bodyPr anchor="t" rtlCol="false" tIns="0" lIns="0" bIns="0" rIns="0">
            <a:spAutoFit/>
          </a:bodyPr>
          <a:lstStyle/>
          <a:p>
            <a:pPr algn="l" marL="0" indent="0" lvl="0">
              <a:lnSpc>
                <a:spcPts val="1678"/>
              </a:lnSpc>
            </a:pPr>
            <a:r>
              <a:rPr lang="en-US" b="true" sz="1399" spc="97">
                <a:solidFill>
                  <a:srgbClr val="000000"/>
                </a:solidFill>
                <a:latin typeface="Poppins Medium"/>
                <a:ea typeface="Poppins Medium"/>
                <a:cs typeface="Poppins Medium"/>
                <a:sym typeface="Poppins Medium"/>
              </a:rPr>
              <a:t>FUENTE: THE PHYSICS CLASSROOM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683008" y="0"/>
            <a:ext cx="12604992" cy="10287000"/>
            <a:chOff x="0" y="0"/>
            <a:chExt cx="16806656" cy="13716000"/>
          </a:xfrm>
        </p:grpSpPr>
        <p:pic>
          <p:nvPicPr>
            <p:cNvPr name="Picture 3" id="3"/>
            <p:cNvPicPr>
              <a:picLocks noChangeAspect="true"/>
            </p:cNvPicPr>
            <p:nvPr/>
          </p:nvPicPr>
          <p:blipFill>
            <a:blip r:embed="rId2"/>
            <a:srcRect l="0" t="3127" r="0" b="3127"/>
            <a:stretch>
              <a:fillRect/>
            </a:stretch>
          </p:blipFill>
          <p:spPr>
            <a:xfrm flipH="false" flipV="false">
              <a:off x="0" y="0"/>
              <a:ext cx="8339828" cy="13716000"/>
            </a:xfrm>
            <a:prstGeom prst="rect">
              <a:avLst/>
            </a:prstGeom>
          </p:spPr>
        </p:pic>
        <p:pic>
          <p:nvPicPr>
            <p:cNvPr name="Picture 4" id="4"/>
            <p:cNvPicPr>
              <a:picLocks noChangeAspect="true"/>
            </p:cNvPicPr>
            <p:nvPr/>
          </p:nvPicPr>
          <p:blipFill>
            <a:blip r:embed="rId3"/>
            <a:srcRect l="365" t="0" r="365" b="0"/>
            <a:stretch>
              <a:fillRect/>
            </a:stretch>
          </p:blipFill>
          <p:spPr>
            <a:xfrm flipH="false" flipV="false">
              <a:off x="8466828" y="0"/>
              <a:ext cx="8339828" cy="6794500"/>
            </a:xfrm>
            <a:prstGeom prst="rect">
              <a:avLst/>
            </a:prstGeom>
          </p:spPr>
        </p:pic>
        <p:pic>
          <p:nvPicPr>
            <p:cNvPr name="Picture 5" id="5"/>
            <p:cNvPicPr>
              <a:picLocks noChangeAspect="true"/>
            </p:cNvPicPr>
            <p:nvPr/>
          </p:nvPicPr>
          <p:blipFill>
            <a:blip r:embed="rId4"/>
            <a:srcRect l="365" t="0" r="365" b="0"/>
            <a:stretch>
              <a:fillRect/>
            </a:stretch>
          </p:blipFill>
          <p:spPr>
            <a:xfrm flipH="false" flipV="false">
              <a:off x="8466828" y="6921500"/>
              <a:ext cx="8339828" cy="6794500"/>
            </a:xfrm>
            <a:prstGeom prst="rect">
              <a:avLst/>
            </a:prstGeom>
          </p:spPr>
        </p:pic>
      </p:grpSp>
      <p:sp>
        <p:nvSpPr>
          <p:cNvPr name="TextBox 6" id="6"/>
          <p:cNvSpPr txBox="true"/>
          <p:nvPr/>
        </p:nvSpPr>
        <p:spPr>
          <a:xfrm rot="0">
            <a:off x="1028700" y="3182975"/>
            <a:ext cx="3500240" cy="4345469"/>
          </a:xfrm>
          <a:prstGeom prst="rect">
            <a:avLst/>
          </a:prstGeom>
        </p:spPr>
        <p:txBody>
          <a:bodyPr anchor="t" rtlCol="false" tIns="0" lIns="0" bIns="0" rIns="0">
            <a:spAutoFit/>
          </a:bodyPr>
          <a:lstStyle/>
          <a:p>
            <a:pPr algn="l" marL="0" indent="0" lvl="0">
              <a:lnSpc>
                <a:spcPts val="3120"/>
              </a:lnSpc>
            </a:pPr>
            <a:r>
              <a:rPr lang="en-US" sz="2400" spc="24">
                <a:solidFill>
                  <a:srgbClr val="000000"/>
                </a:solidFill>
                <a:latin typeface="HK Grotesk Light"/>
                <a:ea typeface="HK Grotesk Light"/>
                <a:cs typeface="HK Grotesk Light"/>
                <a:sym typeface="HK Grotesk Light"/>
              </a:rPr>
              <a:t>Esquemas del Motor de Inducción</a:t>
            </a:r>
          </a:p>
          <a:p>
            <a:pPr algn="l" marL="0" indent="0" lvl="0">
              <a:lnSpc>
                <a:spcPts val="3120"/>
              </a:lnSpc>
            </a:pPr>
            <a:r>
              <a:rPr lang="en-US" sz="2400" spc="24">
                <a:solidFill>
                  <a:srgbClr val="000000"/>
                </a:solidFill>
                <a:latin typeface="HK Grotesk Light"/>
                <a:ea typeface="HK Grotesk Light"/>
                <a:cs typeface="HK Grotesk Light"/>
                <a:sym typeface="HK Grotesk Light"/>
              </a:rPr>
              <a:t>Los diagramas muestran la vista lateral del motor, las conexiones eléctricas entre la pila y la bobina, y la dirección del campo magnético generado.</a:t>
            </a:r>
          </a:p>
          <a:p>
            <a:pPr algn="l" marL="0" indent="0" lvl="0">
              <a:lnSpc>
                <a:spcPts val="3120"/>
              </a:lnSpc>
            </a:pPr>
            <a:r>
              <a:rPr lang="en-US" sz="2400" spc="24">
                <a:solidFill>
                  <a:srgbClr val="000000"/>
                </a:solidFill>
                <a:latin typeface="HK Grotesk Light"/>
                <a:ea typeface="HK Grotesk Light"/>
                <a:cs typeface="HK Grotesk Light"/>
                <a:sym typeface="HK Grotesk Light"/>
              </a:rPr>
              <a:t>Fuente: HyperPhysics, Georgia State University</a:t>
            </a:r>
          </a:p>
          <a:p>
            <a:pPr algn="l" marL="0" indent="0" lvl="0">
              <a:lnSpc>
                <a:spcPts val="3120"/>
              </a:lnSpc>
            </a:pPr>
            <a:r>
              <a:rPr lang="en-US" sz="2400" spc="24">
                <a:solidFill>
                  <a:srgbClr val="000000"/>
                </a:solidFill>
                <a:latin typeface="HK Grotesk Light"/>
                <a:ea typeface="HK Grotesk Light"/>
                <a:cs typeface="HK Grotesk Light"/>
                <a:sym typeface="HK Grotesk Light"/>
              </a:rPr>
              <a:t>Página 16/20</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976010" y="1836935"/>
            <a:ext cx="5646620" cy="1503683"/>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¿Por Qué Gira el Motor?</a:t>
            </a:r>
          </a:p>
        </p:txBody>
      </p:sp>
      <p:sp>
        <p:nvSpPr>
          <p:cNvPr name="TextBox 3" id="3"/>
          <p:cNvSpPr txBox="true"/>
          <p:nvPr/>
        </p:nvSpPr>
        <p:spPr>
          <a:xfrm rot="0">
            <a:off x="1976010" y="4718106"/>
            <a:ext cx="5646620" cy="775654"/>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Fuerza de Lorentz</a:t>
            </a:r>
          </a:p>
        </p:txBody>
      </p:sp>
      <p:sp>
        <p:nvSpPr>
          <p:cNvPr name="TextBox 4" id="4"/>
          <p:cNvSpPr txBox="true"/>
          <p:nvPr/>
        </p:nvSpPr>
        <p:spPr>
          <a:xfrm rot="0">
            <a:off x="8648700" y="1865510"/>
            <a:ext cx="7796356" cy="1988822"/>
          </a:xfrm>
          <a:prstGeom prst="rect">
            <a:avLst/>
          </a:prstGeom>
        </p:spPr>
        <p:txBody>
          <a:bodyPr anchor="t" rtlCol="false" tIns="0" lIns="0" bIns="0" rIns="0">
            <a:spAutoFit/>
          </a:bodyPr>
          <a:lstStyle/>
          <a:p>
            <a:pPr algn="l" marL="0" indent="0" lvl="0">
              <a:lnSpc>
                <a:spcPts val="2774"/>
              </a:lnSpc>
            </a:pPr>
            <a:r>
              <a:rPr lang="en-US" sz="2134" spc="21">
                <a:solidFill>
                  <a:srgbClr val="000000"/>
                </a:solidFill>
                <a:latin typeface="HK Grotesk Light"/>
                <a:ea typeface="HK Grotesk Light"/>
                <a:cs typeface="HK Grotesk Light"/>
                <a:sym typeface="HK Grotesk Light"/>
              </a:rPr>
              <a:t>El motor gira debido a la interacción entre el campo magnético del imán permanente y la corriente eléctrica que fluye por el alambre de cobre. Cuando los electrones se mueven a través del conductor en presencia de un campo magnético, experimentan una fuerza perpendicular tanto a su dirección de movimiento como al campo magnético.</a:t>
            </a:r>
          </a:p>
        </p:txBody>
      </p:sp>
      <p:sp>
        <p:nvSpPr>
          <p:cNvPr name="TextBox 5" id="5"/>
          <p:cNvSpPr txBox="true"/>
          <p:nvPr/>
        </p:nvSpPr>
        <p:spPr>
          <a:xfrm rot="0">
            <a:off x="8648700" y="4746681"/>
            <a:ext cx="7796356" cy="1988822"/>
          </a:xfrm>
          <a:prstGeom prst="rect">
            <a:avLst/>
          </a:prstGeom>
        </p:spPr>
        <p:txBody>
          <a:bodyPr anchor="t" rtlCol="false" tIns="0" lIns="0" bIns="0" rIns="0">
            <a:spAutoFit/>
          </a:bodyPr>
          <a:lstStyle/>
          <a:p>
            <a:pPr algn="l" marL="0" indent="0" lvl="0">
              <a:lnSpc>
                <a:spcPts val="2774"/>
              </a:lnSpc>
            </a:pPr>
            <a:r>
              <a:rPr lang="en-US" sz="2134" spc="21">
                <a:solidFill>
                  <a:srgbClr val="000000"/>
                </a:solidFill>
                <a:latin typeface="HK Grotesk Light"/>
                <a:ea typeface="HK Grotesk Light"/>
                <a:cs typeface="HK Grotesk Light"/>
                <a:sym typeface="HK Grotesk Light"/>
              </a:rPr>
              <a:t>La Fuerza de Lorentz (F = qv × B) es la responsable del movimiento rotatorio. Esta fuerza actúa sobre las cargas en movimiento dentro del conductor, generando un torque que hace girar la bobina. La dirección de la fuerza se determina mediante la regla de la mano derecha, siendo siempre perpendicular al plano formado por la velocidad y el campo magnético.</a:t>
            </a:r>
          </a:p>
        </p:txBody>
      </p:sp>
      <p:grpSp>
        <p:nvGrpSpPr>
          <p:cNvPr name="Group 6" id="6"/>
          <p:cNvGrpSpPr/>
          <p:nvPr/>
        </p:nvGrpSpPr>
        <p:grpSpPr>
          <a:xfrm rot="0">
            <a:off x="7373722" y="7504795"/>
            <a:ext cx="10914278" cy="2782205"/>
            <a:chOff x="0" y="0"/>
            <a:chExt cx="3691990" cy="941141"/>
          </a:xfrm>
        </p:grpSpPr>
        <p:sp>
          <p:nvSpPr>
            <p:cNvPr name="Freeform 7" id="7"/>
            <p:cNvSpPr/>
            <p:nvPr/>
          </p:nvSpPr>
          <p:spPr>
            <a:xfrm flipH="false" flipV="false" rot="0">
              <a:off x="0" y="0"/>
              <a:ext cx="3691990" cy="941141"/>
            </a:xfrm>
            <a:custGeom>
              <a:avLst/>
              <a:gdLst/>
              <a:ahLst/>
              <a:cxnLst/>
              <a:rect r="r" b="b" t="t" l="l"/>
              <a:pathLst>
                <a:path h="941141" w="3691990">
                  <a:moveTo>
                    <a:pt x="0" y="0"/>
                  </a:moveTo>
                  <a:lnTo>
                    <a:pt x="3691990" y="0"/>
                  </a:lnTo>
                  <a:lnTo>
                    <a:pt x="3691990" y="941141"/>
                  </a:lnTo>
                  <a:lnTo>
                    <a:pt x="0" y="941141"/>
                  </a:lnTo>
                  <a:close/>
                </a:path>
              </a:pathLst>
            </a:custGeom>
            <a:solidFill>
              <a:srgbClr val="F17318"/>
            </a:solidFill>
          </p:spPr>
        </p:sp>
      </p:grpSp>
      <p:grpSp>
        <p:nvGrpSpPr>
          <p:cNvPr name="Group 8" id="8"/>
          <p:cNvGrpSpPr/>
          <p:nvPr/>
        </p:nvGrpSpPr>
        <p:grpSpPr>
          <a:xfrm rot="0">
            <a:off x="0" y="7504795"/>
            <a:ext cx="7489742" cy="2782205"/>
            <a:chOff x="0" y="0"/>
            <a:chExt cx="2533567" cy="941141"/>
          </a:xfrm>
        </p:grpSpPr>
        <p:sp>
          <p:nvSpPr>
            <p:cNvPr name="Freeform 9" id="9"/>
            <p:cNvSpPr/>
            <p:nvPr/>
          </p:nvSpPr>
          <p:spPr>
            <a:xfrm flipH="false" flipV="false" rot="0">
              <a:off x="0" y="0"/>
              <a:ext cx="2533567" cy="941141"/>
            </a:xfrm>
            <a:custGeom>
              <a:avLst/>
              <a:gdLst/>
              <a:ahLst/>
              <a:cxnLst/>
              <a:rect r="r" b="b" t="t" l="l"/>
              <a:pathLst>
                <a:path h="941141" w="2533567">
                  <a:moveTo>
                    <a:pt x="0" y="0"/>
                  </a:moveTo>
                  <a:lnTo>
                    <a:pt x="2533567" y="0"/>
                  </a:lnTo>
                  <a:lnTo>
                    <a:pt x="2533567" y="941141"/>
                  </a:lnTo>
                  <a:lnTo>
                    <a:pt x="0" y="941141"/>
                  </a:lnTo>
                  <a:close/>
                </a:path>
              </a:pathLst>
            </a:custGeom>
            <a:solidFill>
              <a:srgbClr val="005CE6"/>
            </a:solidFill>
          </p:spPr>
        </p:sp>
      </p:grpSp>
      <p:sp>
        <p:nvSpPr>
          <p:cNvPr name="Freeform 10" id="10"/>
          <p:cNvSpPr/>
          <p:nvPr/>
        </p:nvSpPr>
        <p:spPr>
          <a:xfrm flipH="false" flipV="false" rot="5400000">
            <a:off x="7373722" y="7504795"/>
            <a:ext cx="2782205" cy="2782205"/>
          </a:xfrm>
          <a:custGeom>
            <a:avLst/>
            <a:gdLst/>
            <a:ahLst/>
            <a:cxnLst/>
            <a:rect r="r" b="b" t="t" l="l"/>
            <a:pathLst>
              <a:path h="2782205" w="2782205">
                <a:moveTo>
                  <a:pt x="0" y="0"/>
                </a:moveTo>
                <a:lnTo>
                  <a:pt x="2782205" y="0"/>
                </a:lnTo>
                <a:lnTo>
                  <a:pt x="2782205" y="2782205"/>
                </a:lnTo>
                <a:lnTo>
                  <a:pt x="0" y="2782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10155927" y="7504795"/>
            <a:ext cx="2782205" cy="2782205"/>
          </a:xfrm>
          <a:custGeom>
            <a:avLst/>
            <a:gdLst/>
            <a:ahLst/>
            <a:cxnLst/>
            <a:rect r="r" b="b" t="t" l="l"/>
            <a:pathLst>
              <a:path h="2782205" w="2782205">
                <a:moveTo>
                  <a:pt x="0" y="0"/>
                </a:moveTo>
                <a:lnTo>
                  <a:pt x="2782205" y="0"/>
                </a:lnTo>
                <a:lnTo>
                  <a:pt x="2782205" y="2782205"/>
                </a:lnTo>
                <a:lnTo>
                  <a:pt x="0" y="2782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5505795" y="7504795"/>
            <a:ext cx="2782205" cy="2782205"/>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5F5EF"/>
            </a:solidFill>
          </p:spPr>
        </p:sp>
      </p:grpSp>
      <p:grpSp>
        <p:nvGrpSpPr>
          <p:cNvPr name="Group 14" id="14"/>
          <p:cNvGrpSpPr/>
          <p:nvPr/>
        </p:nvGrpSpPr>
        <p:grpSpPr>
          <a:xfrm rot="0">
            <a:off x="5753224" y="813810"/>
            <a:ext cx="9511178" cy="214890"/>
            <a:chOff x="0" y="0"/>
            <a:chExt cx="25294954" cy="571500"/>
          </a:xfrm>
        </p:grpSpPr>
        <p:sp>
          <p:nvSpPr>
            <p:cNvPr name="Freeform 15" id="15"/>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16" id="16"/>
          <p:cNvSpPr txBox="true"/>
          <p:nvPr/>
        </p:nvSpPr>
        <p:spPr>
          <a:xfrm rot="0">
            <a:off x="15374896" y="813810"/>
            <a:ext cx="1884404" cy="187207"/>
          </a:xfrm>
          <a:prstGeom prst="rect">
            <a:avLst/>
          </a:prstGeom>
        </p:spPr>
        <p:txBody>
          <a:bodyPr anchor="t" rtlCol="false" tIns="0" lIns="0" bIns="0" rIns="0">
            <a:spAutoFit/>
          </a:bodyPr>
          <a:lstStyle/>
          <a:p>
            <a:pPr algn="r" marL="0" indent="0" lvl="0">
              <a:lnSpc>
                <a:spcPts val="1494"/>
              </a:lnSpc>
            </a:pPr>
            <a:r>
              <a:rPr lang="en-US" b="true" sz="1245" spc="87">
                <a:solidFill>
                  <a:srgbClr val="000000"/>
                </a:solidFill>
                <a:latin typeface="Poppins Medium"/>
                <a:ea typeface="Poppins Medium"/>
                <a:cs typeface="Poppins Medium"/>
                <a:sym typeface="Poppins Medium"/>
              </a:rPr>
              <a:t>17/20</a:t>
            </a:r>
          </a:p>
        </p:txBody>
      </p:sp>
      <p:sp>
        <p:nvSpPr>
          <p:cNvPr name="TextBox 17" id="17"/>
          <p:cNvSpPr txBox="true"/>
          <p:nvPr/>
        </p:nvSpPr>
        <p:spPr>
          <a:xfrm rot="0">
            <a:off x="1028700" y="813810"/>
            <a:ext cx="4724524" cy="374415"/>
          </a:xfrm>
          <a:prstGeom prst="rect">
            <a:avLst/>
          </a:prstGeom>
        </p:spPr>
        <p:txBody>
          <a:bodyPr anchor="t" rtlCol="false" tIns="0" lIns="0" bIns="0" rIns="0">
            <a:spAutoFit/>
          </a:bodyPr>
          <a:lstStyle/>
          <a:p>
            <a:pPr algn="l" marL="0" indent="0" lvl="0">
              <a:lnSpc>
                <a:spcPts val="1494"/>
              </a:lnSpc>
            </a:pPr>
            <a:r>
              <a:rPr lang="en-US" b="true" sz="1245" spc="87">
                <a:solidFill>
                  <a:srgbClr val="000000"/>
                </a:solidFill>
                <a:latin typeface="Poppins Medium"/>
                <a:ea typeface="Poppins Medium"/>
                <a:cs typeface="Poppins Medium"/>
                <a:sym typeface="Poppins Medium"/>
              </a:rPr>
              <a:t>FUENTE: SERWAY, R. FÍSICA PARA CIENCIAS E INGENIERÍA</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5400000">
            <a:off x="10267580" y="-1123580"/>
            <a:ext cx="10287000" cy="12534160"/>
            <a:chOff x="0" y="0"/>
            <a:chExt cx="2354580" cy="2868930"/>
          </a:xfrm>
        </p:grpSpPr>
        <p:sp>
          <p:nvSpPr>
            <p:cNvPr name="Freeform 3" id="3"/>
            <p:cNvSpPr/>
            <p:nvPr/>
          </p:nvSpPr>
          <p:spPr>
            <a:xfrm flipH="false" flipV="false" rot="0">
              <a:off x="0" y="0"/>
              <a:ext cx="2353310" cy="2868930"/>
            </a:xfrm>
            <a:custGeom>
              <a:avLst/>
              <a:gdLst/>
              <a:ahLst/>
              <a:cxnLst/>
              <a:rect r="r" b="b" t="t" l="l"/>
              <a:pathLst>
                <a:path h="2868930" w="2353310">
                  <a:moveTo>
                    <a:pt x="784860" y="2801620"/>
                  </a:moveTo>
                  <a:cubicBezTo>
                    <a:pt x="905510" y="2842260"/>
                    <a:pt x="1042670" y="2868930"/>
                    <a:pt x="1177290" y="2868930"/>
                  </a:cubicBezTo>
                  <a:cubicBezTo>
                    <a:pt x="1311910" y="2868930"/>
                    <a:pt x="1441450" y="2846070"/>
                    <a:pt x="1560830" y="2805430"/>
                  </a:cubicBezTo>
                  <a:cubicBezTo>
                    <a:pt x="1563370" y="2804160"/>
                    <a:pt x="1565910" y="2804160"/>
                    <a:pt x="1568450" y="2802890"/>
                  </a:cubicBezTo>
                  <a:cubicBezTo>
                    <a:pt x="2016760" y="2640330"/>
                    <a:pt x="2346960" y="2211070"/>
                    <a:pt x="2353310" y="1709420"/>
                  </a:cubicBezTo>
                  <a:lnTo>
                    <a:pt x="2353310" y="0"/>
                  </a:lnTo>
                  <a:lnTo>
                    <a:pt x="0" y="0"/>
                  </a:lnTo>
                  <a:lnTo>
                    <a:pt x="0" y="1708150"/>
                  </a:lnTo>
                  <a:cubicBezTo>
                    <a:pt x="6350" y="2213610"/>
                    <a:pt x="331470" y="2642870"/>
                    <a:pt x="784860" y="2801620"/>
                  </a:cubicBezTo>
                  <a:close/>
                </a:path>
              </a:pathLst>
            </a:custGeom>
            <a:solidFill>
              <a:srgbClr val="005CE6"/>
            </a:solidFill>
          </p:spPr>
        </p:sp>
      </p:grpSp>
      <p:sp>
        <p:nvSpPr>
          <p:cNvPr name="TextBox 4" id="4"/>
          <p:cNvSpPr txBox="true"/>
          <p:nvPr/>
        </p:nvSpPr>
        <p:spPr>
          <a:xfrm rot="0">
            <a:off x="15264403" y="804285"/>
            <a:ext cx="1994897" cy="196732"/>
          </a:xfrm>
          <a:prstGeom prst="rect">
            <a:avLst/>
          </a:prstGeom>
        </p:spPr>
        <p:txBody>
          <a:bodyPr anchor="t" rtlCol="false" tIns="0" lIns="0" bIns="0" rIns="0">
            <a:spAutoFit/>
          </a:bodyPr>
          <a:lstStyle/>
          <a:p>
            <a:pPr algn="r" marL="0" indent="0" lvl="0">
              <a:lnSpc>
                <a:spcPts val="1546"/>
              </a:lnSpc>
            </a:pPr>
            <a:r>
              <a:rPr lang="en-US" b="true" sz="1289" spc="90">
                <a:solidFill>
                  <a:srgbClr val="FFFFFF"/>
                </a:solidFill>
                <a:latin typeface="Poppins Medium"/>
                <a:ea typeface="Poppins Medium"/>
                <a:cs typeface="Poppins Medium"/>
                <a:sym typeface="Poppins Medium"/>
              </a:rPr>
              <a:t>PÁGINA 19 DE 20</a:t>
            </a:r>
          </a:p>
        </p:txBody>
      </p:sp>
      <p:sp>
        <p:nvSpPr>
          <p:cNvPr name="TextBox 5" id="5"/>
          <p:cNvSpPr txBox="true"/>
          <p:nvPr/>
        </p:nvSpPr>
        <p:spPr>
          <a:xfrm rot="0">
            <a:off x="1028700" y="804285"/>
            <a:ext cx="4724524" cy="196732"/>
          </a:xfrm>
          <a:prstGeom prst="rect">
            <a:avLst/>
          </a:prstGeom>
        </p:spPr>
        <p:txBody>
          <a:bodyPr anchor="t" rtlCol="false" tIns="0" lIns="0" bIns="0" rIns="0">
            <a:spAutoFit/>
          </a:bodyPr>
          <a:lstStyle/>
          <a:p>
            <a:pPr algn="l" marL="0" indent="0" lvl="0">
              <a:lnSpc>
                <a:spcPts val="1546"/>
              </a:lnSpc>
            </a:pPr>
            <a:r>
              <a:rPr lang="en-US" b="true" sz="1289" spc="90">
                <a:solidFill>
                  <a:srgbClr val="000000"/>
                </a:solidFill>
                <a:latin typeface="Poppins Medium"/>
                <a:ea typeface="Poppins Medium"/>
                <a:cs typeface="Poppins Medium"/>
                <a:sym typeface="Poppins Medium"/>
              </a:rPr>
              <a:t>LEY DE FARADAY Y MOTORES DE INDUCCIÓN</a:t>
            </a:r>
          </a:p>
        </p:txBody>
      </p:sp>
      <p:grpSp>
        <p:nvGrpSpPr>
          <p:cNvPr name="Group 6" id="6"/>
          <p:cNvGrpSpPr/>
          <p:nvPr/>
        </p:nvGrpSpPr>
        <p:grpSpPr>
          <a:xfrm rot="0">
            <a:off x="1028700" y="2101333"/>
            <a:ext cx="7187623" cy="2880276"/>
            <a:chOff x="0" y="0"/>
            <a:chExt cx="9583498" cy="3840368"/>
          </a:xfrm>
        </p:grpSpPr>
        <p:sp>
          <p:nvSpPr>
            <p:cNvPr name="TextBox 7" id="7"/>
            <p:cNvSpPr txBox="true"/>
            <p:nvPr/>
          </p:nvSpPr>
          <p:spPr>
            <a:xfrm rot="0">
              <a:off x="0" y="-47625"/>
              <a:ext cx="9583498" cy="1018330"/>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Motor casero</a:t>
              </a:r>
            </a:p>
          </p:txBody>
        </p:sp>
        <p:sp>
          <p:nvSpPr>
            <p:cNvPr name="TextBox 8" id="8"/>
            <p:cNvSpPr txBox="true"/>
            <p:nvPr/>
          </p:nvSpPr>
          <p:spPr>
            <a:xfrm rot="0">
              <a:off x="0" y="1139477"/>
              <a:ext cx="9583498"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CARACTERÍSTICAS DEL MOTOR SIMPLE</a:t>
              </a:r>
            </a:p>
          </p:txBody>
        </p:sp>
        <p:sp>
          <p:nvSpPr>
            <p:cNvPr name="TextBox 9" id="9"/>
            <p:cNvSpPr txBox="true"/>
            <p:nvPr/>
          </p:nvSpPr>
          <p:spPr>
            <a:xfrm rot="0">
              <a:off x="0" y="1963272"/>
              <a:ext cx="7731325" cy="1877096"/>
            </a:xfrm>
            <a:prstGeom prst="rect">
              <a:avLst/>
            </a:prstGeom>
          </p:spPr>
          <p:txBody>
            <a:bodyPr anchor="t" rtlCol="false" tIns="0" lIns="0" bIns="0" rIns="0">
              <a:spAutoFit/>
            </a:bodyPr>
            <a:lstStyle/>
            <a:p>
              <a:pPr algn="l" marL="0" indent="0" lvl="0">
                <a:lnSpc>
                  <a:spcPts val="2872"/>
                </a:lnSpc>
              </a:pPr>
              <a:r>
                <a:rPr lang="en-US" sz="2209" spc="22">
                  <a:solidFill>
                    <a:srgbClr val="000000"/>
                  </a:solidFill>
                  <a:latin typeface="HK Grotesk Light"/>
                  <a:ea typeface="HK Grotesk Light"/>
                  <a:cs typeface="HK Grotesk Light"/>
                  <a:sym typeface="HK Grotesk Light"/>
                </a:rPr>
                <a:t>Construcción sencilla con materiales accesibles: pila 9V, alambre esmaltado e imán. Ideal para comprender principios básicos de electromagnetismo y la ley de Faraday.</a:t>
              </a:r>
            </a:p>
          </p:txBody>
        </p:sp>
      </p:grpSp>
      <p:grpSp>
        <p:nvGrpSpPr>
          <p:cNvPr name="Group 10" id="10"/>
          <p:cNvGrpSpPr/>
          <p:nvPr/>
        </p:nvGrpSpPr>
        <p:grpSpPr>
          <a:xfrm rot="0">
            <a:off x="10934914" y="3575391"/>
            <a:ext cx="6324386" cy="3136219"/>
            <a:chOff x="0" y="0"/>
            <a:chExt cx="8432515" cy="4181625"/>
          </a:xfrm>
        </p:grpSpPr>
        <p:sp>
          <p:nvSpPr>
            <p:cNvPr name="TextBox 11" id="11"/>
            <p:cNvSpPr txBox="true"/>
            <p:nvPr/>
          </p:nvSpPr>
          <p:spPr>
            <a:xfrm rot="0">
              <a:off x="0" y="-47625"/>
              <a:ext cx="8432515" cy="1018330"/>
            </a:xfrm>
            <a:prstGeom prst="rect">
              <a:avLst/>
            </a:prstGeom>
          </p:spPr>
          <p:txBody>
            <a:bodyPr anchor="t" rtlCol="false" tIns="0" lIns="0" bIns="0" rIns="0">
              <a:spAutoFit/>
            </a:bodyPr>
            <a:lstStyle/>
            <a:p>
              <a:pPr algn="r" marL="0" indent="0" lvl="0">
                <a:lnSpc>
                  <a:spcPts val="5755"/>
                </a:lnSpc>
              </a:pPr>
              <a:r>
                <a:rPr lang="en-US" b="true" sz="4796">
                  <a:solidFill>
                    <a:srgbClr val="FFFFFF"/>
                  </a:solidFill>
                  <a:latin typeface="Poppins Medium"/>
                  <a:ea typeface="Poppins Medium"/>
                  <a:cs typeface="Poppins Medium"/>
                  <a:sym typeface="Poppins Medium"/>
                </a:rPr>
                <a:t>Motor industrial</a:t>
              </a:r>
            </a:p>
          </p:txBody>
        </p:sp>
        <p:sp>
          <p:nvSpPr>
            <p:cNvPr name="TextBox 12" id="12"/>
            <p:cNvSpPr txBox="true"/>
            <p:nvPr/>
          </p:nvSpPr>
          <p:spPr>
            <a:xfrm rot="0">
              <a:off x="0" y="1256667"/>
              <a:ext cx="8432515" cy="435067"/>
            </a:xfrm>
            <a:prstGeom prst="rect">
              <a:avLst/>
            </a:prstGeom>
          </p:spPr>
          <p:txBody>
            <a:bodyPr anchor="t" rtlCol="false" tIns="0" lIns="0" bIns="0" rIns="0">
              <a:spAutoFit/>
            </a:bodyPr>
            <a:lstStyle/>
            <a:p>
              <a:pPr algn="r" marL="0" indent="0" lvl="0">
                <a:lnSpc>
                  <a:spcPts val="2518"/>
                </a:lnSpc>
              </a:pPr>
              <a:r>
                <a:rPr lang="en-US" b="true" sz="2098" spc="52">
                  <a:solidFill>
                    <a:srgbClr val="FFFFFF"/>
                  </a:solidFill>
                  <a:latin typeface="Poppins Medium"/>
                  <a:ea typeface="Poppins Medium"/>
                  <a:cs typeface="Poppins Medium"/>
                  <a:sym typeface="Poppins Medium"/>
                </a:rPr>
                <a:t>CARACTERÍSTICAS DEL MOTOR PROFESIONAL</a:t>
              </a:r>
            </a:p>
          </p:txBody>
        </p:sp>
        <p:sp>
          <p:nvSpPr>
            <p:cNvPr name="TextBox 13" id="13"/>
            <p:cNvSpPr txBox="true"/>
            <p:nvPr/>
          </p:nvSpPr>
          <p:spPr>
            <a:xfrm rot="0">
              <a:off x="701190" y="2304529"/>
              <a:ext cx="7731325" cy="1877096"/>
            </a:xfrm>
            <a:prstGeom prst="rect">
              <a:avLst/>
            </a:prstGeom>
          </p:spPr>
          <p:txBody>
            <a:bodyPr anchor="t" rtlCol="false" tIns="0" lIns="0" bIns="0" rIns="0">
              <a:spAutoFit/>
            </a:bodyPr>
            <a:lstStyle/>
            <a:p>
              <a:pPr algn="r" marL="0" indent="0" lvl="0">
                <a:lnSpc>
                  <a:spcPts val="2872"/>
                </a:lnSpc>
              </a:pPr>
              <a:r>
                <a:rPr lang="en-US" b="true" sz="2209" spc="22">
                  <a:solidFill>
                    <a:srgbClr val="FFFFFF"/>
                  </a:solidFill>
                  <a:latin typeface="HK Grotesk Medium"/>
                  <a:ea typeface="HK Grotesk Medium"/>
                  <a:cs typeface="HK Grotesk Medium"/>
                  <a:sym typeface="HK Grotesk Medium"/>
                </a:rPr>
                <a:t>Alta eficiencia energética (85-95%), diseño optimizado con bobinados precisos, aplicaciones en manufactura, transporte y sistemas automatizados.</a:t>
              </a:r>
            </a:p>
          </p:txBody>
        </p:sp>
      </p:grpSp>
      <p:grpSp>
        <p:nvGrpSpPr>
          <p:cNvPr name="Group 14" id="14"/>
          <p:cNvGrpSpPr/>
          <p:nvPr/>
        </p:nvGrpSpPr>
        <p:grpSpPr>
          <a:xfrm rot="0">
            <a:off x="1028700" y="5804845"/>
            <a:ext cx="7187623" cy="2882257"/>
            <a:chOff x="0" y="0"/>
            <a:chExt cx="9583498" cy="3843009"/>
          </a:xfrm>
        </p:grpSpPr>
        <p:sp>
          <p:nvSpPr>
            <p:cNvPr name="TextBox 15" id="15"/>
            <p:cNvSpPr txBox="true"/>
            <p:nvPr/>
          </p:nvSpPr>
          <p:spPr>
            <a:xfrm rot="0">
              <a:off x="0" y="-47625"/>
              <a:ext cx="9583498" cy="1018330"/>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Comparativa clave</a:t>
              </a:r>
            </a:p>
          </p:txBody>
        </p:sp>
        <p:sp>
          <p:nvSpPr>
            <p:cNvPr name="TextBox 16" id="16"/>
            <p:cNvSpPr txBox="true"/>
            <p:nvPr/>
          </p:nvSpPr>
          <p:spPr>
            <a:xfrm rot="0">
              <a:off x="0" y="1215133"/>
              <a:ext cx="9583498"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EFICIENCIA Y APLICACIONES PRÁCTICAS</a:t>
              </a:r>
            </a:p>
          </p:txBody>
        </p:sp>
        <p:sp>
          <p:nvSpPr>
            <p:cNvPr name="TextBox 17" id="17"/>
            <p:cNvSpPr txBox="true"/>
            <p:nvPr/>
          </p:nvSpPr>
          <p:spPr>
            <a:xfrm rot="0">
              <a:off x="0" y="1965913"/>
              <a:ext cx="8181117" cy="1877096"/>
            </a:xfrm>
            <a:prstGeom prst="rect">
              <a:avLst/>
            </a:prstGeom>
          </p:spPr>
          <p:txBody>
            <a:bodyPr anchor="t" rtlCol="false" tIns="0" lIns="0" bIns="0" rIns="0">
              <a:spAutoFit/>
            </a:bodyPr>
            <a:lstStyle/>
            <a:p>
              <a:pPr algn="l" marL="0" indent="0" lvl="0">
                <a:lnSpc>
                  <a:spcPts val="2872"/>
                </a:lnSpc>
                <a:spcBef>
                  <a:spcPct val="0"/>
                </a:spcBef>
              </a:pPr>
              <a:r>
                <a:rPr lang="en-US" sz="2209" spc="22" u="none">
                  <a:solidFill>
                    <a:srgbClr val="000000"/>
                  </a:solidFill>
                  <a:latin typeface="HK Grotesk Light"/>
                  <a:ea typeface="HK Grotesk Light"/>
                  <a:cs typeface="HK Grotesk Light"/>
                  <a:sym typeface="HK Grotesk Light"/>
                </a:rPr>
                <a:t>El motor casero tiene eficiencia del 5-10% pero es excelente para educación. El industrial alcanza alta potencia y durabilidad para uso comercial. Fuente: IEEE Transactions on Education.</a:t>
              </a:r>
            </a:p>
          </p:txBody>
        </p:sp>
      </p:grpSp>
      <p:grpSp>
        <p:nvGrpSpPr>
          <p:cNvPr name="Group 18" id="18"/>
          <p:cNvGrpSpPr/>
          <p:nvPr/>
        </p:nvGrpSpPr>
        <p:grpSpPr>
          <a:xfrm rot="0">
            <a:off x="5848474" y="813810"/>
            <a:ext cx="9168278" cy="214890"/>
            <a:chOff x="0" y="0"/>
            <a:chExt cx="24383012" cy="571500"/>
          </a:xfrm>
        </p:grpSpPr>
        <p:sp>
          <p:nvSpPr>
            <p:cNvPr name="Freeform 19" id="19"/>
            <p:cNvSpPr/>
            <p:nvPr/>
          </p:nvSpPr>
          <p:spPr>
            <a:xfrm flipH="false" flipV="false" rot="0">
              <a:off x="0" y="255270"/>
              <a:ext cx="24383012" cy="69850"/>
            </a:xfrm>
            <a:custGeom>
              <a:avLst/>
              <a:gdLst/>
              <a:ahLst/>
              <a:cxnLst/>
              <a:rect r="r" b="b" t="t" l="l"/>
              <a:pathLst>
                <a:path h="69850" w="24383012">
                  <a:moveTo>
                    <a:pt x="24092182" y="0"/>
                  </a:moveTo>
                  <a:lnTo>
                    <a:pt x="0" y="0"/>
                  </a:lnTo>
                  <a:lnTo>
                    <a:pt x="0" y="69850"/>
                  </a:lnTo>
                  <a:lnTo>
                    <a:pt x="24383012" y="69850"/>
                  </a:lnTo>
                  <a:lnTo>
                    <a:pt x="24383012" y="0"/>
                  </a:lnTo>
                  <a:close/>
                </a:path>
              </a:pathLst>
            </a:custGeom>
            <a:solidFill>
              <a:srgbClr val="000000"/>
            </a:solid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AutoShape 2" id="2"/>
          <p:cNvSpPr/>
          <p:nvPr/>
        </p:nvSpPr>
        <p:spPr>
          <a:xfrm rot="0">
            <a:off x="0" y="0"/>
            <a:ext cx="8453749" cy="10287000"/>
          </a:xfrm>
          <a:prstGeom prst="rect">
            <a:avLst/>
          </a:prstGeom>
          <a:solidFill>
            <a:srgbClr val="9DC6EC"/>
          </a:solidFill>
        </p:spPr>
      </p:sp>
      <p:sp>
        <p:nvSpPr>
          <p:cNvPr name="Freeform 3" id="3"/>
          <p:cNvSpPr/>
          <p:nvPr/>
        </p:nvSpPr>
        <p:spPr>
          <a:xfrm flipH="false" flipV="false" rot="0">
            <a:off x="790002" y="965751"/>
            <a:ext cx="7104883" cy="3531106"/>
          </a:xfrm>
          <a:custGeom>
            <a:avLst/>
            <a:gdLst/>
            <a:ahLst/>
            <a:cxnLst/>
            <a:rect r="r" b="b" t="t" l="l"/>
            <a:pathLst>
              <a:path h="3531106" w="7104883">
                <a:moveTo>
                  <a:pt x="0" y="0"/>
                </a:moveTo>
                <a:lnTo>
                  <a:pt x="7104883" y="0"/>
                </a:lnTo>
                <a:lnTo>
                  <a:pt x="7104883" y="3531105"/>
                </a:lnTo>
                <a:lnTo>
                  <a:pt x="0" y="3531105"/>
                </a:lnTo>
                <a:lnTo>
                  <a:pt x="0" y="0"/>
                </a:lnTo>
                <a:close/>
              </a:path>
            </a:pathLst>
          </a:custGeom>
          <a:blipFill>
            <a:blip r:embed="rId2"/>
            <a:stretch>
              <a:fillRect l="0" t="0" r="0" b="0"/>
            </a:stretch>
          </a:blipFill>
        </p:spPr>
      </p:sp>
      <p:grpSp>
        <p:nvGrpSpPr>
          <p:cNvPr name="Group 4" id="4"/>
          <p:cNvGrpSpPr/>
          <p:nvPr/>
        </p:nvGrpSpPr>
        <p:grpSpPr>
          <a:xfrm rot="0">
            <a:off x="1387532" y="4608315"/>
            <a:ext cx="5678685" cy="5678685"/>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D7144"/>
            </a:solidFill>
          </p:spPr>
        </p:sp>
      </p:grpSp>
      <p:grpSp>
        <p:nvGrpSpPr>
          <p:cNvPr name="Group 6" id="6"/>
          <p:cNvGrpSpPr/>
          <p:nvPr/>
        </p:nvGrpSpPr>
        <p:grpSpPr>
          <a:xfrm rot="0">
            <a:off x="9466492" y="9258300"/>
            <a:ext cx="2926301" cy="214890"/>
            <a:chOff x="0" y="0"/>
            <a:chExt cx="7782490" cy="571500"/>
          </a:xfrm>
        </p:grpSpPr>
        <p:sp>
          <p:nvSpPr>
            <p:cNvPr name="Freeform 7" id="7"/>
            <p:cNvSpPr/>
            <p:nvPr/>
          </p:nvSpPr>
          <p:spPr>
            <a:xfrm flipH="false" flipV="false" rot="0">
              <a:off x="0" y="255270"/>
              <a:ext cx="7782490" cy="69850"/>
            </a:xfrm>
            <a:custGeom>
              <a:avLst/>
              <a:gdLst/>
              <a:ahLst/>
              <a:cxnLst/>
              <a:rect r="r" b="b" t="t" l="l"/>
              <a:pathLst>
                <a:path h="69850" w="7782490">
                  <a:moveTo>
                    <a:pt x="7491661" y="0"/>
                  </a:moveTo>
                  <a:lnTo>
                    <a:pt x="0" y="0"/>
                  </a:lnTo>
                  <a:lnTo>
                    <a:pt x="0" y="69850"/>
                  </a:lnTo>
                  <a:lnTo>
                    <a:pt x="7782490" y="69850"/>
                  </a:lnTo>
                  <a:lnTo>
                    <a:pt x="7782490" y="0"/>
                  </a:lnTo>
                  <a:close/>
                </a:path>
              </a:pathLst>
            </a:custGeom>
            <a:solidFill>
              <a:srgbClr val="000000"/>
            </a:solidFill>
          </p:spPr>
        </p:sp>
      </p:grpSp>
      <p:grpSp>
        <p:nvGrpSpPr>
          <p:cNvPr name="Group 8" id="8"/>
          <p:cNvGrpSpPr/>
          <p:nvPr/>
        </p:nvGrpSpPr>
        <p:grpSpPr>
          <a:xfrm rot="0">
            <a:off x="10791199" y="3656639"/>
            <a:ext cx="5499309" cy="2140082"/>
            <a:chOff x="0" y="0"/>
            <a:chExt cx="7332412" cy="2853442"/>
          </a:xfrm>
        </p:grpSpPr>
        <p:sp>
          <p:nvSpPr>
            <p:cNvPr name="TextBox 9" id="9"/>
            <p:cNvSpPr txBox="true"/>
            <p:nvPr/>
          </p:nvSpPr>
          <p:spPr>
            <a:xfrm rot="0">
              <a:off x="0" y="-57150"/>
              <a:ext cx="7332412" cy="1305200"/>
            </a:xfrm>
            <a:prstGeom prst="rect">
              <a:avLst/>
            </a:prstGeom>
          </p:spPr>
          <p:txBody>
            <a:bodyPr anchor="t" rtlCol="false" tIns="0" lIns="0" bIns="0" rIns="0">
              <a:spAutoFit/>
            </a:bodyPr>
            <a:lstStyle/>
            <a:p>
              <a:pPr algn="l" marL="0" indent="0" lvl="0">
                <a:lnSpc>
                  <a:spcPts val="7468"/>
                </a:lnSpc>
                <a:spcBef>
                  <a:spcPct val="0"/>
                </a:spcBef>
              </a:pPr>
              <a:r>
                <a:rPr lang="en-US" b="true" sz="6223" u="none">
                  <a:solidFill>
                    <a:srgbClr val="000000"/>
                  </a:solidFill>
                  <a:latin typeface="Poppins Medium"/>
                  <a:ea typeface="Poppins Medium"/>
                  <a:cs typeface="Poppins Medium"/>
                  <a:sym typeface="Poppins Medium"/>
                </a:rPr>
                <a:t>Conclusiones</a:t>
              </a:r>
            </a:p>
          </p:txBody>
        </p:sp>
        <p:sp>
          <p:nvSpPr>
            <p:cNvPr name="TextBox 10" id="10"/>
            <p:cNvSpPr txBox="true"/>
            <p:nvPr/>
          </p:nvSpPr>
          <p:spPr>
            <a:xfrm rot="0">
              <a:off x="0" y="1373151"/>
              <a:ext cx="7332412" cy="1480291"/>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¡GRACIAS POR SU ATENCIÓN!</a:t>
              </a:r>
            </a:p>
          </p:txBody>
        </p:sp>
      </p:grpSp>
      <p:sp>
        <p:nvSpPr>
          <p:cNvPr name="TextBox 11" id="11"/>
          <p:cNvSpPr txBox="true"/>
          <p:nvPr/>
        </p:nvSpPr>
        <p:spPr>
          <a:xfrm rot="0">
            <a:off x="13018287" y="801642"/>
            <a:ext cx="4241013"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PÁGINA 20 DE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DAHLBUxHVDQ</dc:identifier>
  <dcterms:modified xsi:type="dcterms:W3CDTF">2011-08-01T06:04:30Z</dcterms:modified>
  <cp:revision>1</cp:revision>
  <dc:title>Principios fundamentales, aplicaciones en electrónica y mecánica, y construcción de un motor casero</dc:title>
</cp:coreProperties>
</file>